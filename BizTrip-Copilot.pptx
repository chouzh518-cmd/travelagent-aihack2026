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03"/>
    <p:restoredTop sz="95801"/>
  </p:normalViewPr>
  <p:slideViewPr>
    <p:cSldViewPr snapToGrid="0">
      <p:cViewPr varScale="1">
        <p:scale>
          <a:sx n="98" d="100"/>
          <a:sy n="98" d="100"/>
        </p:scale>
        <p:origin x="216"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8597B-8390-95DC-FFEF-06D266FFA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E2CB8-6B36-57B1-6718-44A449AF5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23FDE-F5DA-B158-097D-D74BC1880D1B}"/>
              </a:ext>
            </a:extLst>
          </p:cNvPr>
          <p:cNvSpPr>
            <a:spLocks noGrp="1"/>
          </p:cNvSpPr>
          <p:nvPr>
            <p:ph type="body" idx="1"/>
          </p:nvPr>
        </p:nvSpPr>
        <p:spPr/>
        <p:txBody>
          <a:bodyPr/>
          <a:lstStyle/>
          <a:p>
            <a:r>
              <a:t>本日は、BizTrip-Copilotをご紹介します。出張条件の整理、旅費規程の確認、行程の比較、承認依頼の下書きを、一つにつなぐ出張計画AIです。AIが準備を助け、利用者は根拠を確認して判断できます。</a:t>
            </a:r>
          </a:p>
          <a:p>
            <a:endParaRPr/>
          </a:p>
          <a:p>
            <a:r>
              <a:t>参考：AI HACK 2026 Day1.pdf p.7・15・16（テーマ、評価、発表時間）; プロジェクト README.md（製品概要）</a:t>
            </a:r>
          </a:p>
        </p:txBody>
      </p:sp>
      <p:sp>
        <p:nvSpPr>
          <p:cNvPr id="4" name="Slide Number Placeholder 3">
            <a:extLst>
              <a:ext uri="{FF2B5EF4-FFF2-40B4-BE49-F238E27FC236}">
                <a16:creationId xmlns:a16="http://schemas.microsoft.com/office/drawing/2014/main" id="{BD42E539-C97D-B947-A137-344143F0974B}"/>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4159967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本日は、BizTrip-Copilotをご紹介します。出張条件の整理、旅費規程の確認、行程の比較、承認依頼の下書きを、一つにつなぐ出張計画AIです。AIが準備を助け、利用者は根拠を確認して判断できます。</a:t>
            </a:r>
          </a:p>
          <a:p>
            <a:endParaRPr/>
          </a:p>
          <a:p>
            <a:r>
              <a:t>参考：AI HACK 2026 Day1.pdf p.7・15・16（テーマ、評価、発表時間）; プロジェクト README.md（製品概要）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zTrip-Copilotは、出張条件、旅費規程、プラン比較、承認依頼を一つの流れにまとめます。高価な出張管理システムの導入が難しい中小企業や大学研究室にも、軽量な準備・申請支援を届けることを目指しています。</a:t>
            </a:r>
          </a:p>
          <a:p>
            <a:endParaRPr/>
          </a:p>
          <a:p>
            <a:r>
              <a:t>参考：プロジェクト README.md（対象利用者と対象業務）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利用者は自然文で出張の概要を伝え、AIとの対話で条件をそろえます。整理された条件は、規程検索や行程比較につながります。画面の例は、東京駅から大阪市への一泊二日のデモ条件です。</a:t>
            </a:r>
          </a:p>
          <a:p>
            <a:endParaRPr/>
          </a:p>
          <a:p>
            <a:r>
              <a:t>参考：AI HACK 2026 Day1.pdf p.13（自律性の評価観点）; プロジェクト README.md（自然言語入力と不足情報の確認）; docs/RELEASE_READINESS.md（固定デモ条件）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大きな特長は、AIにすべてを任せない役割分担です。AIが規程資料から該当箇所を示し、プログラムが費用や時間を計算します。利用者は根拠と確認ポイントを見て、安心して次の判断に進めます。</a:t>
            </a:r>
          </a:p>
          <a:p>
            <a:endParaRPr/>
          </a:p>
          <a:p>
            <a:r>
              <a:t>参考：プロジェクト README.md; docs/AGENT_ARCHITECTURE.md; docs/RELEASE_READINESS.md（該当箇所の表示と最終判断の制限）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速達プランと費用重視プランを、費用と時間の軸で並べて選べる画面です。発表では、この比較画面を操作して、入力からプラン選択までを短く見せます。表示値はローカル模擬データによるデモです。</a:t>
            </a:r>
          </a:p>
          <a:p>
            <a:endParaRPr/>
          </a:p>
          <a:p>
            <a:r>
              <a:t>参考：docs/RELEASE_READINESS.md（外部APIなしのデモ）; tools/simulation_provider.py（模擬値と未確認項目）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AIが計画案と承認メールの草稿を準備し、利用者が内容を確認して次に進みます。ルールや金額の根拠を確かめてから判断できるため、AIの作業力と人の責任ある判断を組み合わせられます。</a:t>
            </a:r>
          </a:p>
          <a:p>
            <a:endParaRPr/>
          </a:p>
          <a:p>
            <a:r>
              <a:t>参考：プロジェクト README.md（Human-in-the-Loopとメール草稿）; docs/RELEASE_READINESS.md（未送信の下書きのみ）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caRouterをOpenAI互換API経由で接続し、LLMの呼び出し経路を一つにまとめています。既定ルートはorcarouter/freeで、試作段階から推論コストに配慮した構成です。数値の比較計算はプログラム側に置き、モデル呼び出しと役割を分けています。</a:t>
            </a:r>
          </a:p>
          <a:p>
            <a:endParaRPr/>
          </a:p>
          <a:p>
            <a:r>
              <a:t>参考：OrcaRouter様資料.pdf pp.5-9・11-12（API、モデルルート、評価の見方）; llm/orcarouter.py; agents/intent_router.py; config/llm_tiers.json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zTrip-Copilotは、自然文から始まる出張準備を、規程の根拠、費用と時間の比較、承認草稿までつなぎます。計算はプログラムで確かめ、利用者は根拠を見て判断できます。準備はAIで速く、判断は根拠とともに。ありがとうございました。</a:t>
            </a:r>
          </a:p>
          <a:p>
            <a:endParaRPr/>
          </a:p>
          <a:p>
            <a:r>
              <a:t>参考：AI HACK 2026 Day1.pdf pp.15-16; OrcaRouter様資料.pdf pp.4・10-14; docs/RELEASE_READINESS.md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a:extLst>
            <a:ext uri="{FF2B5EF4-FFF2-40B4-BE49-F238E27FC236}">
              <a16:creationId xmlns:a16="http://schemas.microsoft.com/office/drawing/2014/main" id="{1D2DD282-56FA-3614-AE19-235FA22AE132}"/>
            </a:ext>
          </a:extLst>
        </p:cNvPr>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1EB93E9F-B9AE-CCD4-6968-BD6432569552}"/>
              </a:ext>
            </a:extLst>
          </p:cNvPr>
          <p:cNvSpPr>
            <a:spLocks noGrp="1"/>
          </p:cNvSpPr>
          <p:nvPr/>
        </p:nvSpPr>
        <p:spPr>
          <a:xfrm>
            <a:off x="742950" y="647700"/>
            <a:ext cx="4953000" cy="266700"/>
          </a:xfrm>
          <a:prstGeom prst="rect">
            <a:avLst/>
          </a:prstGeom>
          <a:noFill/>
          <a:ln w="0">
            <a:noFill/>
          </a:ln>
        </p:spPr>
        <p:txBody>
          <a:bodyPr wrap="square" lIns="0" tIns="0" rIns="0" bIns="0" anchor="t">
            <a:normAutofit/>
          </a:bodyPr>
          <a:lstStyle/>
          <a:p>
            <a:pPr marL="0" marR="0" lvl="0" indent="0" algn="l" defTabSz="914400" rtl="0" eaLnBrk="1" fontAlgn="auto" latinLnBrk="0" hangingPunct="1">
              <a:lnSpc>
                <a:spcPct val="108000"/>
              </a:lnSpc>
              <a:spcBef>
                <a:spcPts val="0"/>
              </a:spcBef>
              <a:spcAft>
                <a:spcPts val="0"/>
              </a:spcAft>
              <a:buClrTx/>
              <a:buSzTx/>
              <a:buFontTx/>
              <a:buNone/>
              <a:tabLst/>
              <a:defRPr sz="1275" b="1">
                <a:solidFill>
                  <a:srgbClr val="7DE0CC"/>
                </a:solidFill>
                <a:latin typeface="BIZ UDPGothic"/>
                <a:ea typeface="BIZ UDPGothic"/>
                <a:cs typeface="BIZ UDPGothic"/>
              </a:defRPr>
            </a:pPr>
            <a:r>
              <a:rPr kumimoji="1" sz="1275" b="1" i="0" u="none" strike="noStrike" kern="1200" cap="none" spc="0" normalizeH="0" baseline="0" noProof="0">
                <a:ln>
                  <a:noFill/>
                </a:ln>
                <a:solidFill>
                  <a:srgbClr val="7DE0CC"/>
                </a:solidFill>
                <a:effectLst/>
                <a:uLnTx/>
                <a:uFillTx/>
                <a:latin typeface="BIZ UDPGothic"/>
                <a:ea typeface="BIZ UDPGothic"/>
                <a:cs typeface="BIZ UDPGothic"/>
              </a:rPr>
              <a:t>AI HACK 2026  /  最終発表</a:t>
            </a:r>
          </a:p>
        </p:txBody>
      </p:sp>
      <p:sp>
        <p:nvSpPr>
          <p:cNvPr id="3" name="正方形/長方形 2">
            <a:extLst>
              <a:ext uri="{FF2B5EF4-FFF2-40B4-BE49-F238E27FC236}">
                <a16:creationId xmlns:a16="http://schemas.microsoft.com/office/drawing/2014/main" id="{AF97FC2F-C5B6-E8D6-FFED-555F882612FB}"/>
              </a:ext>
            </a:extLst>
          </p:cNvPr>
          <p:cNvSpPr>
            <a:spLocks noGrp="1"/>
          </p:cNvSpPr>
          <p:nvPr/>
        </p:nvSpPr>
        <p:spPr>
          <a:xfrm>
            <a:off x="742950" y="908230"/>
            <a:ext cx="7048500" cy="2907411"/>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sz="2325" b="1">
                <a:solidFill>
                  <a:srgbClr val="7DE0CC"/>
                </a:solidFill>
                <a:latin typeface="BIZ UDPGothic"/>
                <a:ea typeface="BIZ UDPGothic"/>
                <a:cs typeface="BIZ UDPGothic"/>
              </a:defRPr>
            </a:pPr>
            <a:r>
              <a:rPr kumimoji="1" sz="6600" b="1" i="0" u="none" strike="noStrike" kern="1200" cap="none" spc="0" normalizeH="0" baseline="0" noProof="0" dirty="0" err="1">
                <a:ln>
                  <a:noFill/>
                </a:ln>
                <a:solidFill>
                  <a:srgbClr val="7DE0CC"/>
                </a:solidFill>
                <a:effectLst/>
                <a:uLnTx/>
                <a:uFillTx/>
                <a:latin typeface="BIZ UDPGothic"/>
                <a:ea typeface="BIZ UDPGothic"/>
                <a:cs typeface="BIZ UDPGothic"/>
              </a:rPr>
              <a:t>BizTrip</a:t>
            </a:r>
            <a:r>
              <a:rPr kumimoji="1" sz="6600" b="1" i="0" u="none" strike="noStrike" kern="1200" cap="none" spc="0" normalizeH="0" baseline="0" noProof="0" dirty="0">
                <a:ln>
                  <a:noFill/>
                </a:ln>
                <a:solidFill>
                  <a:srgbClr val="7DE0CC"/>
                </a:solidFill>
                <a:effectLst/>
                <a:uLnTx/>
                <a:uFillTx/>
                <a:latin typeface="BIZ UDPGothic"/>
                <a:ea typeface="BIZ UDPGothic"/>
                <a:cs typeface="BIZ UDPGothic"/>
              </a:rPr>
              <a:t>-Copilot</a:t>
            </a:r>
            <a:endParaRPr kumimoji="1" lang="en-US" sz="6600" b="1" i="0" u="none" strike="noStrike" kern="1200" cap="none" spc="0" normalizeH="0" baseline="0" noProof="0" dirty="0">
              <a:ln>
                <a:noFill/>
              </a:ln>
              <a:solidFill>
                <a:srgbClr val="7DE0CC"/>
              </a:solidFill>
              <a:effectLst/>
              <a:uLnTx/>
              <a:uFillTx/>
              <a:latin typeface="BIZ UDPGothic"/>
              <a:ea typeface="BIZ UDPGothic"/>
              <a:cs typeface="BIZ UDPGothic"/>
            </a:endParaRPr>
          </a:p>
          <a:p>
            <a:pPr>
              <a:lnSpc>
                <a:spcPct val="100000"/>
              </a:lnSpc>
              <a:defRPr sz="2325" b="1">
                <a:solidFill>
                  <a:srgbClr val="7DE0CC"/>
                </a:solidFill>
                <a:latin typeface="BIZ UDPGothic"/>
                <a:ea typeface="BIZ UDPGothic"/>
                <a:cs typeface="BIZ UDPGothic"/>
              </a:defRPr>
            </a:pPr>
            <a:r>
              <a:rPr lang="ja-JP" altLang="ja-JP" sz="2325" b="1">
                <a:solidFill>
                  <a:srgbClr val="7DE0CC"/>
                </a:solidFill>
                <a:latin typeface="BIZ UDPGothic"/>
              </a:rPr>
              <a:t>ビズトリップ・コパイロット</a:t>
            </a:r>
            <a:endParaRPr lang="en-US" altLang="ja-JP" sz="2325" b="1" dirty="0">
              <a:solidFill>
                <a:srgbClr val="7DE0CC"/>
              </a:solidFill>
              <a:latin typeface="BIZ UDPGothic"/>
            </a:endParaRPr>
          </a:p>
          <a:p>
            <a:pPr>
              <a:lnSpc>
                <a:spcPct val="100000"/>
              </a:lnSpc>
              <a:defRPr sz="2325" b="1">
                <a:solidFill>
                  <a:srgbClr val="7DE0CC"/>
                </a:solidFill>
                <a:latin typeface="BIZ UDPGothic"/>
                <a:ea typeface="BIZ UDPGothic"/>
                <a:cs typeface="BIZ UDPGothic"/>
              </a:defRPr>
            </a:pPr>
            <a:endParaRPr lang="en-US" sz="3600" b="1" dirty="0">
              <a:solidFill>
                <a:srgbClr val="7DE0CC"/>
              </a:solidFill>
              <a:latin typeface="BIZ UDPGothic"/>
              <a:ea typeface="BIZ UDPGothic"/>
              <a:cs typeface="BIZ UDPGothic"/>
            </a:endParaRPr>
          </a:p>
          <a:p>
            <a:pPr marL="0" marR="0" lvl="0" indent="0" algn="l" defTabSz="914400" rtl="0" eaLnBrk="1" fontAlgn="auto" latinLnBrk="0" hangingPunct="1">
              <a:lnSpc>
                <a:spcPct val="108000"/>
              </a:lnSpc>
              <a:spcBef>
                <a:spcPts val="0"/>
              </a:spcBef>
              <a:spcAft>
                <a:spcPts val="0"/>
              </a:spcAft>
              <a:buClrTx/>
              <a:buSzTx/>
              <a:buFontTx/>
              <a:buNone/>
              <a:tabLst/>
              <a:defRPr sz="2325" b="1">
                <a:solidFill>
                  <a:srgbClr val="7DE0CC"/>
                </a:solidFill>
                <a:latin typeface="BIZ UDPGothic"/>
                <a:ea typeface="BIZ UDPGothic"/>
                <a:cs typeface="BIZ UDPGothic"/>
              </a:defRPr>
            </a:pPr>
            <a:r>
              <a:rPr kumimoji="1" lang="ja-JP" altLang="en-US" sz="2800" b="1" i="0" u="none" strike="noStrike" kern="1200" cap="none" spc="0" normalizeH="0" baseline="0" noProof="0">
                <a:ln>
                  <a:noFill/>
                </a:ln>
                <a:solidFill>
                  <a:srgbClr val="7DE0CC"/>
                </a:solidFill>
                <a:effectLst/>
                <a:uLnTx/>
                <a:uFillTx/>
                <a:latin typeface="BIZ UDPGothic"/>
                <a:ea typeface="BIZ UDPGothic"/>
                <a:cs typeface="BIZ UDPGothic"/>
              </a:rPr>
              <a:t>チーム</a:t>
            </a:r>
            <a:r>
              <a:rPr kumimoji="1" lang="en-US" altLang="ja-JP" sz="2800" b="1" i="0" u="none" strike="noStrike" kern="1200" cap="none" spc="0" normalizeH="0" baseline="0" noProof="0" dirty="0">
                <a:ln>
                  <a:noFill/>
                </a:ln>
                <a:solidFill>
                  <a:srgbClr val="7DE0CC"/>
                </a:solidFill>
                <a:effectLst/>
                <a:uLnTx/>
                <a:uFillTx/>
                <a:latin typeface="BIZ UDPGothic"/>
                <a:ea typeface="BIZ UDPGothic"/>
                <a:cs typeface="BIZ UDPGothic"/>
              </a:rPr>
              <a:t>ZZZ</a:t>
            </a:r>
            <a:endParaRPr kumimoji="1" sz="2800" b="1" i="0" u="none" strike="noStrike" kern="1200" cap="none" spc="0" normalizeH="0" baseline="0" noProof="0" dirty="0">
              <a:ln>
                <a:noFill/>
              </a:ln>
              <a:solidFill>
                <a:srgbClr val="7DE0CC"/>
              </a:solidFill>
              <a:effectLst/>
              <a:uLnTx/>
              <a:uFillTx/>
              <a:latin typeface="BIZ UDPGothic"/>
              <a:ea typeface="BIZ UDPGothic"/>
              <a:cs typeface="BIZ UDPGothic"/>
            </a:endParaRPr>
          </a:p>
        </p:txBody>
      </p:sp>
      <p:pic>
        <p:nvPicPr>
          <p:cNvPr id="24" name="図 23">
            <a:extLst>
              <a:ext uri="{FF2B5EF4-FFF2-40B4-BE49-F238E27FC236}">
                <a16:creationId xmlns:a16="http://schemas.microsoft.com/office/drawing/2014/main" id="{977CEFEB-11DF-3B12-359A-5618F34EA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850" y="3625088"/>
            <a:ext cx="5059680" cy="2890688"/>
          </a:xfrm>
          <a:prstGeom prst="rect">
            <a:avLst/>
          </a:prstGeom>
        </p:spPr>
      </p:pic>
      <p:pic>
        <p:nvPicPr>
          <p:cNvPr id="26" name="図 25">
            <a:extLst>
              <a:ext uri="{FF2B5EF4-FFF2-40B4-BE49-F238E27FC236}">
                <a16:creationId xmlns:a16="http://schemas.microsoft.com/office/drawing/2014/main" id="{F0868876-DB22-DE37-802D-8750477E87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2329" y="1337218"/>
            <a:ext cx="3587201" cy="2049434"/>
          </a:xfrm>
          <a:prstGeom prst="rect">
            <a:avLst/>
          </a:prstGeom>
        </p:spPr>
      </p:pic>
      <p:pic>
        <p:nvPicPr>
          <p:cNvPr id="28" name="図 27">
            <a:extLst>
              <a:ext uri="{FF2B5EF4-FFF2-40B4-BE49-F238E27FC236}">
                <a16:creationId xmlns:a16="http://schemas.microsoft.com/office/drawing/2014/main" id="{C9022402-66E4-A496-51C5-2755C4E9CF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270" y="3625088"/>
            <a:ext cx="5059680" cy="2890688"/>
          </a:xfrm>
          <a:prstGeom prst="rect">
            <a:avLst/>
          </a:prstGeom>
        </p:spPr>
      </p:pic>
      <p:cxnSp>
        <p:nvCxnSpPr>
          <p:cNvPr id="42" name="直線矢印コネクタ 41">
            <a:extLst>
              <a:ext uri="{FF2B5EF4-FFF2-40B4-BE49-F238E27FC236}">
                <a16:creationId xmlns:a16="http://schemas.microsoft.com/office/drawing/2014/main" id="{173E2DBA-E217-428A-357D-7CE8672960D4}"/>
              </a:ext>
            </a:extLst>
          </p:cNvPr>
          <p:cNvCxnSpPr>
            <a:cxnSpLocks/>
            <a:stCxn id="24" idx="1"/>
            <a:endCxn id="28" idx="3"/>
          </p:cNvCxnSpPr>
          <p:nvPr/>
        </p:nvCxnSpPr>
        <p:spPr>
          <a:xfrm flipH="1">
            <a:off x="5695950" y="5070432"/>
            <a:ext cx="12639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6" name="図 45">
            <a:extLst>
              <a:ext uri="{FF2B5EF4-FFF2-40B4-BE49-F238E27FC236}">
                <a16:creationId xmlns:a16="http://schemas.microsoft.com/office/drawing/2014/main" id="{9743A824-437B-CED2-4AA9-4C25714722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3949" y="82427"/>
            <a:ext cx="3587203" cy="2049435"/>
          </a:xfrm>
          <a:prstGeom prst="rect">
            <a:avLst/>
          </a:prstGeom>
        </p:spPr>
      </p:pic>
      <p:cxnSp>
        <p:nvCxnSpPr>
          <p:cNvPr id="74" name="直線矢印コネクタ 73">
            <a:extLst>
              <a:ext uri="{FF2B5EF4-FFF2-40B4-BE49-F238E27FC236}">
                <a16:creationId xmlns:a16="http://schemas.microsoft.com/office/drawing/2014/main" id="{84087F09-FE7C-EFC4-E6B8-071C0FB27C59}"/>
              </a:ext>
            </a:extLst>
          </p:cNvPr>
          <p:cNvCxnSpPr>
            <a:cxnSpLocks/>
            <a:stCxn id="46" idx="2"/>
            <a:endCxn id="26" idx="1"/>
          </p:cNvCxnSpPr>
          <p:nvPr/>
        </p:nvCxnSpPr>
        <p:spPr>
          <a:xfrm>
            <a:off x="7947551" y="2131862"/>
            <a:ext cx="484778" cy="230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D712AF5C-431F-9FDB-0A21-708DA77FE231}"/>
              </a:ext>
            </a:extLst>
          </p:cNvPr>
          <p:cNvCxnSpPr>
            <a:cxnSpLocks/>
            <a:stCxn id="26" idx="2"/>
            <a:endCxn id="24" idx="0"/>
          </p:cNvCxnSpPr>
          <p:nvPr/>
        </p:nvCxnSpPr>
        <p:spPr>
          <a:xfrm flipH="1">
            <a:off x="9489690" y="3386652"/>
            <a:ext cx="736240" cy="238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475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60BC0B7D-A4BA-4009-860D-75DE16A726B3}"/>
              </a:ext>
            </a:extLst>
          </p:cNvPr>
          <p:cNvSpPr>
            <a:spLocks noGrp="1"/>
          </p:cNvSpPr>
          <p:nvPr/>
        </p:nvSpPr>
        <p:spPr>
          <a:xfrm>
            <a:off x="742950" y="647700"/>
            <a:ext cx="4953000" cy="266700"/>
          </a:xfrm>
          <a:prstGeom prst="rect">
            <a:avLst/>
          </a:prstGeom>
          <a:noFill/>
          <a:ln w="0">
            <a:noFill/>
          </a:ln>
        </p:spPr>
        <p:txBody>
          <a:bodyPr wrap="square" lIns="0" tIns="0" rIns="0" bIns="0" anchor="t">
            <a:normAutofit/>
          </a:bodyPr>
          <a:lstStyle/>
          <a:p>
            <a:pPr algn="l">
              <a:lnSpc>
                <a:spcPct val="108000"/>
              </a:lnSpc>
              <a:buNone/>
              <a:defRPr sz="1275" b="1">
                <a:solidFill>
                  <a:srgbClr val="7DE0CC"/>
                </a:solidFill>
                <a:latin typeface="BIZ UDPGothic"/>
                <a:ea typeface="BIZ UDPGothic"/>
                <a:cs typeface="BIZ UDPGothic"/>
              </a:defRPr>
            </a:pPr>
            <a:r>
              <a:rPr sz="1275" b="1">
                <a:solidFill>
                  <a:srgbClr val="7DE0CC"/>
                </a:solidFill>
                <a:latin typeface="BIZ UDPGothic"/>
                <a:ea typeface="BIZ UDPGothic"/>
                <a:cs typeface="BIZ UDPGothic"/>
              </a:rPr>
              <a:t>AI HACK 2026  /  最終発表</a:t>
            </a:r>
          </a:p>
        </p:txBody>
      </p:sp>
      <p:sp>
        <p:nvSpPr>
          <p:cNvPr id="2" name="正方形/長方形 1">
            <a:extLst>
              <a:ext uri="{FF2B5EF4-FFF2-40B4-BE49-F238E27FC236}">
                <a16:creationId xmlns:a16="http://schemas.microsoft.com/office/drawing/2014/main" id="{2EA23FB3-BFEB-4028-A992-05664AA59BF2}"/>
              </a:ext>
            </a:extLst>
          </p:cNvPr>
          <p:cNvSpPr>
            <a:spLocks noGrp="1"/>
          </p:cNvSpPr>
          <p:nvPr/>
        </p:nvSpPr>
        <p:spPr>
          <a:xfrm>
            <a:off x="723900" y="1571625"/>
            <a:ext cx="7239000" cy="1257300"/>
          </a:xfrm>
          <a:prstGeom prst="rect">
            <a:avLst/>
          </a:prstGeom>
          <a:noFill/>
          <a:ln w="0">
            <a:noFill/>
          </a:ln>
        </p:spPr>
        <p:txBody>
          <a:bodyPr wrap="square" lIns="0" tIns="0" rIns="0" bIns="0" anchor="t">
            <a:normAutofit fontScale="95354"/>
          </a:bodyPr>
          <a:lstStyle/>
          <a:p>
            <a:pPr algn="l">
              <a:lnSpc>
                <a:spcPct val="103000"/>
              </a:lnSpc>
              <a:buNone/>
              <a:defRPr sz="4200" b="1">
                <a:solidFill>
                  <a:srgbClr val="F4F5F1"/>
                </a:solidFill>
                <a:latin typeface="BIZ UDPGothic"/>
                <a:ea typeface="BIZ UDPGothic"/>
                <a:cs typeface="BIZ UDPGothic"/>
              </a:defRPr>
            </a:pPr>
            <a:r>
              <a:rPr sz="4200" b="1">
                <a:solidFill>
                  <a:srgbClr val="F4F5F1"/>
                </a:solidFill>
                <a:latin typeface="BIZ UDPGothic"/>
                <a:ea typeface="BIZ UDPGothic"/>
                <a:cs typeface="BIZ UDPGothic"/>
              </a:rPr>
              <a:t>出張申請を、</a:t>
            </a:r>
          </a:p>
          <a:p>
            <a:pPr algn="l">
              <a:lnSpc>
                <a:spcPct val="103000"/>
              </a:lnSpc>
              <a:buNone/>
              <a:defRPr sz="4200" b="1">
                <a:solidFill>
                  <a:srgbClr val="F4F5F1"/>
                </a:solidFill>
                <a:latin typeface="BIZ UDPGothic"/>
                <a:ea typeface="BIZ UDPGothic"/>
                <a:cs typeface="BIZ UDPGothic"/>
              </a:defRPr>
            </a:pPr>
            <a:r>
              <a:rPr sz="4200" b="1">
                <a:solidFill>
                  <a:srgbClr val="F4F5F1"/>
                </a:solidFill>
                <a:latin typeface="BIZ UDPGothic"/>
                <a:ea typeface="BIZ UDPGothic"/>
                <a:cs typeface="BIZ UDPGothic"/>
              </a:rPr>
              <a:t>根拠のある計画へ</a:t>
            </a:r>
          </a:p>
        </p:txBody>
      </p:sp>
      <p:sp>
        <p:nvSpPr>
          <p:cNvPr id="3" name="正方形/長方形 2">
            <a:extLst>
              <a:ext uri="{FF2B5EF4-FFF2-40B4-BE49-F238E27FC236}">
                <a16:creationId xmlns:a16="http://schemas.microsoft.com/office/drawing/2014/main" id="{EE6BF78C-84C8-433E-9D00-1397CF653912}"/>
              </a:ext>
            </a:extLst>
          </p:cNvPr>
          <p:cNvSpPr>
            <a:spLocks noGrp="1"/>
          </p:cNvSpPr>
          <p:nvPr/>
        </p:nvSpPr>
        <p:spPr>
          <a:xfrm>
            <a:off x="762000" y="3190875"/>
            <a:ext cx="7048500" cy="457200"/>
          </a:xfrm>
          <a:prstGeom prst="rect">
            <a:avLst/>
          </a:prstGeom>
          <a:noFill/>
          <a:ln w="0">
            <a:noFill/>
          </a:ln>
        </p:spPr>
        <p:txBody>
          <a:bodyPr wrap="square" lIns="0" tIns="0" rIns="0" bIns="0" anchor="t">
            <a:normAutofit/>
          </a:bodyPr>
          <a:lstStyle/>
          <a:p>
            <a:pPr algn="l">
              <a:lnSpc>
                <a:spcPct val="108000"/>
              </a:lnSpc>
              <a:buNone/>
              <a:defRPr sz="2325" b="1">
                <a:solidFill>
                  <a:srgbClr val="7DE0CC"/>
                </a:solidFill>
                <a:latin typeface="BIZ UDPGothic"/>
                <a:ea typeface="BIZ UDPGothic"/>
                <a:cs typeface="BIZ UDPGothic"/>
              </a:defRPr>
            </a:pPr>
            <a:r>
              <a:rPr sz="2325" b="1">
                <a:solidFill>
                  <a:srgbClr val="7DE0CC"/>
                </a:solidFill>
                <a:latin typeface="BIZ UDPGothic"/>
                <a:ea typeface="BIZ UDPGothic"/>
                <a:cs typeface="BIZ UDPGothic"/>
              </a:rPr>
              <a:t>BizTrip-Copilot</a:t>
            </a:r>
          </a:p>
        </p:txBody>
      </p:sp>
      <p:sp>
        <p:nvSpPr>
          <p:cNvPr id="4" name="正方形/長方形 3">
            <a:extLst>
              <a:ext uri="{FF2B5EF4-FFF2-40B4-BE49-F238E27FC236}">
                <a16:creationId xmlns:a16="http://schemas.microsoft.com/office/drawing/2014/main" id="{588EA9F4-6BEF-432B-85A3-B30F1EA5F6F4}"/>
              </a:ext>
            </a:extLst>
          </p:cNvPr>
          <p:cNvSpPr>
            <a:spLocks noGrp="1"/>
          </p:cNvSpPr>
          <p:nvPr/>
        </p:nvSpPr>
        <p:spPr>
          <a:xfrm>
            <a:off x="762000" y="3790950"/>
            <a:ext cx="6334125" cy="723900"/>
          </a:xfrm>
          <a:prstGeom prst="rect">
            <a:avLst/>
          </a:prstGeom>
          <a:noFill/>
          <a:ln w="0">
            <a:noFill/>
          </a:ln>
        </p:spPr>
        <p:txBody>
          <a:bodyPr wrap="square" lIns="0" tIns="0" rIns="0" bIns="0" anchor="t">
            <a:normAutofit/>
          </a:bodyPr>
          <a:lstStyle/>
          <a:p>
            <a:pPr algn="l">
              <a:lnSpc>
                <a:spcPct val="124000"/>
              </a:lnSpc>
              <a:buNone/>
              <a:defRPr sz="1875" b="0">
                <a:solidFill>
                  <a:srgbClr val="A9B8C3"/>
                </a:solidFill>
                <a:latin typeface="BIZ UDPGothic"/>
                <a:ea typeface="BIZ UDPGothic"/>
                <a:cs typeface="BIZ UDPGothic"/>
              </a:defRPr>
            </a:pPr>
            <a:r>
              <a:rPr sz="1875" b="0">
                <a:solidFill>
                  <a:srgbClr val="A9B8C3"/>
                </a:solidFill>
                <a:latin typeface="BIZ UDPGothic"/>
                <a:ea typeface="BIZ UDPGothic"/>
                <a:cs typeface="BIZ UDPGothic"/>
              </a:rPr>
              <a:t>規程・行程・費用・承認草稿をつなぐ</a:t>
            </a:r>
          </a:p>
          <a:p>
            <a:pPr algn="l">
              <a:lnSpc>
                <a:spcPct val="124000"/>
              </a:lnSpc>
              <a:buNone/>
              <a:defRPr sz="1875" b="0">
                <a:solidFill>
                  <a:srgbClr val="A9B8C3"/>
                </a:solidFill>
                <a:latin typeface="BIZ UDPGothic"/>
                <a:ea typeface="BIZ UDPGothic"/>
                <a:cs typeface="BIZ UDPGothic"/>
              </a:defRPr>
            </a:pPr>
            <a:r>
              <a:rPr sz="1875" b="0">
                <a:solidFill>
                  <a:srgbClr val="A9B8C3"/>
                </a:solidFill>
                <a:latin typeface="BIZ UDPGothic"/>
                <a:ea typeface="BIZ UDPGothic"/>
                <a:cs typeface="BIZ UDPGothic"/>
              </a:rPr>
              <a:t>出張計画AIエージェント</a:t>
            </a:r>
          </a:p>
        </p:txBody>
      </p:sp>
      <p:sp>
        <p:nvSpPr>
          <p:cNvPr id="5" name="正方形/長方形 4">
            <a:extLst>
              <a:ext uri="{FF2B5EF4-FFF2-40B4-BE49-F238E27FC236}">
                <a16:creationId xmlns:a16="http://schemas.microsoft.com/office/drawing/2014/main" id="{10A7E39A-D1C9-478B-A818-CCFA0BCB3BCC}"/>
              </a:ext>
            </a:extLst>
          </p:cNvPr>
          <p:cNvSpPr>
            <a:spLocks noGrp="1"/>
          </p:cNvSpPr>
          <p:nvPr/>
        </p:nvSpPr>
        <p:spPr>
          <a:xfrm>
            <a:off x="8620125" y="1666875"/>
            <a:ext cx="28575" cy="3429000"/>
          </a:xfrm>
          <a:prstGeom prst="rect">
            <a:avLst/>
          </a:prstGeom>
          <a:solidFill>
            <a:srgbClr val="304454"/>
          </a:solidFill>
          <a:ln w="0">
            <a:noFill/>
          </a:ln>
        </p:spPr>
        <p:txBody>
          <a:bodyPr/>
          <a:lstStyle/>
          <a:p>
            <a:endParaRPr lang="ja-JP" altLang="en-US"/>
          </a:p>
        </p:txBody>
      </p:sp>
      <p:sp>
        <p:nvSpPr>
          <p:cNvPr id="6" name="円/楕円 5">
            <a:extLst>
              <a:ext uri="{FF2B5EF4-FFF2-40B4-BE49-F238E27FC236}">
                <a16:creationId xmlns:a16="http://schemas.microsoft.com/office/drawing/2014/main" id="{F0BB9301-A690-41B1-8C6C-F478A607AD2D}"/>
              </a:ext>
            </a:extLst>
          </p:cNvPr>
          <p:cNvSpPr>
            <a:spLocks noGrp="1"/>
          </p:cNvSpPr>
          <p:nvPr/>
        </p:nvSpPr>
        <p:spPr>
          <a:xfrm>
            <a:off x="8467725" y="1724025"/>
            <a:ext cx="333375" cy="333375"/>
          </a:xfrm>
          <a:prstGeom prst="ellipse">
            <a:avLst/>
          </a:prstGeom>
          <a:solidFill>
            <a:srgbClr val="7DE0CC"/>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2A6769CC-8EC9-42EC-9C34-FE173A6BA394}"/>
              </a:ext>
            </a:extLst>
          </p:cNvPr>
          <p:cNvSpPr>
            <a:spLocks noGrp="1"/>
          </p:cNvSpPr>
          <p:nvPr/>
        </p:nvSpPr>
        <p:spPr>
          <a:xfrm>
            <a:off x="9029700" y="1714500"/>
            <a:ext cx="647700" cy="285750"/>
          </a:xfrm>
          <a:prstGeom prst="rect">
            <a:avLst/>
          </a:prstGeom>
          <a:noFill/>
          <a:ln w="0">
            <a:noFill/>
          </a:ln>
        </p:spPr>
        <p:txBody>
          <a:bodyPr wrap="square" lIns="0" tIns="0" rIns="0" bIns="0" anchor="t">
            <a:normAutofit/>
          </a:bodyPr>
          <a:lstStyle/>
          <a:p>
            <a:pPr algn="l">
              <a:lnSpc>
                <a:spcPct val="108000"/>
              </a:lnSpc>
              <a:buNone/>
              <a:defRPr sz="1200" b="1">
                <a:solidFill>
                  <a:srgbClr val="7DE0CC"/>
                </a:solidFill>
                <a:latin typeface="BIZ UDPGothic"/>
                <a:ea typeface="BIZ UDPGothic"/>
                <a:cs typeface="BIZ UDPGothic"/>
              </a:defRPr>
            </a:pPr>
            <a:r>
              <a:rPr sz="1200" b="1">
                <a:solidFill>
                  <a:srgbClr val="7DE0CC"/>
                </a:solidFill>
                <a:latin typeface="BIZ UDPGothic"/>
                <a:ea typeface="BIZ UDPGothic"/>
                <a:cs typeface="BIZ UDPGothic"/>
              </a:rPr>
              <a:t>01</a:t>
            </a:r>
          </a:p>
        </p:txBody>
      </p:sp>
      <p:sp>
        <p:nvSpPr>
          <p:cNvPr id="8" name="正方形/長方形 7">
            <a:extLst>
              <a:ext uri="{FF2B5EF4-FFF2-40B4-BE49-F238E27FC236}">
                <a16:creationId xmlns:a16="http://schemas.microsoft.com/office/drawing/2014/main" id="{51F0DED3-B68B-41CA-998B-2569FD4A4F7F}"/>
              </a:ext>
            </a:extLst>
          </p:cNvPr>
          <p:cNvSpPr>
            <a:spLocks noGrp="1"/>
          </p:cNvSpPr>
          <p:nvPr/>
        </p:nvSpPr>
        <p:spPr>
          <a:xfrm>
            <a:off x="9029700" y="2019300"/>
            <a:ext cx="2381250" cy="4000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条件を聞く</a:t>
            </a:r>
          </a:p>
        </p:txBody>
      </p:sp>
      <p:sp>
        <p:nvSpPr>
          <p:cNvPr id="9" name="円/楕円 8">
            <a:extLst>
              <a:ext uri="{FF2B5EF4-FFF2-40B4-BE49-F238E27FC236}">
                <a16:creationId xmlns:a16="http://schemas.microsoft.com/office/drawing/2014/main" id="{F758D6E9-D150-4067-BB16-30BD675CBC11}"/>
              </a:ext>
            </a:extLst>
          </p:cNvPr>
          <p:cNvSpPr>
            <a:spLocks noGrp="1"/>
          </p:cNvSpPr>
          <p:nvPr/>
        </p:nvSpPr>
        <p:spPr>
          <a:xfrm>
            <a:off x="8467725" y="3095625"/>
            <a:ext cx="333375" cy="333375"/>
          </a:xfrm>
          <a:prstGeom prst="ellipse">
            <a:avLst/>
          </a:prstGeom>
          <a:solidFill>
            <a:srgbClr val="83B8F4"/>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9924028B-E711-44D9-87B3-5B31D71F1E7D}"/>
              </a:ext>
            </a:extLst>
          </p:cNvPr>
          <p:cNvSpPr>
            <a:spLocks noGrp="1"/>
          </p:cNvSpPr>
          <p:nvPr/>
        </p:nvSpPr>
        <p:spPr>
          <a:xfrm>
            <a:off x="9029700" y="3086100"/>
            <a:ext cx="647700" cy="285750"/>
          </a:xfrm>
          <a:prstGeom prst="rect">
            <a:avLst/>
          </a:prstGeom>
          <a:noFill/>
          <a:ln w="0">
            <a:noFill/>
          </a:ln>
        </p:spPr>
        <p:txBody>
          <a:bodyPr wrap="square" lIns="0" tIns="0" rIns="0" bIns="0" anchor="t">
            <a:normAutofit/>
          </a:bodyPr>
          <a:lstStyle/>
          <a:p>
            <a:pPr algn="l">
              <a:lnSpc>
                <a:spcPct val="108000"/>
              </a:lnSpc>
              <a:buNone/>
              <a:defRPr sz="1200" b="1">
                <a:solidFill>
                  <a:srgbClr val="83B8F4"/>
                </a:solidFill>
                <a:latin typeface="BIZ UDPGothic"/>
                <a:ea typeface="BIZ UDPGothic"/>
                <a:cs typeface="BIZ UDPGothic"/>
              </a:defRPr>
            </a:pPr>
            <a:r>
              <a:rPr sz="1200" b="1">
                <a:solidFill>
                  <a:srgbClr val="83B8F4"/>
                </a:solidFill>
                <a:latin typeface="BIZ UDPGothic"/>
                <a:ea typeface="BIZ UDPGothic"/>
                <a:cs typeface="BIZ UDPGothic"/>
              </a:rPr>
              <a:t>02</a:t>
            </a:r>
          </a:p>
        </p:txBody>
      </p:sp>
      <p:sp>
        <p:nvSpPr>
          <p:cNvPr id="11" name="正方形/長方形 10">
            <a:extLst>
              <a:ext uri="{FF2B5EF4-FFF2-40B4-BE49-F238E27FC236}">
                <a16:creationId xmlns:a16="http://schemas.microsoft.com/office/drawing/2014/main" id="{03EE1D6A-79D3-4C32-A9C2-4A2717C430E7}"/>
              </a:ext>
            </a:extLst>
          </p:cNvPr>
          <p:cNvSpPr>
            <a:spLocks noGrp="1"/>
          </p:cNvSpPr>
          <p:nvPr/>
        </p:nvSpPr>
        <p:spPr>
          <a:xfrm>
            <a:off x="9029700" y="3390900"/>
            <a:ext cx="2381250" cy="4000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根拠を示す</a:t>
            </a:r>
          </a:p>
        </p:txBody>
      </p:sp>
      <p:sp>
        <p:nvSpPr>
          <p:cNvPr id="12" name="円/楕円 11">
            <a:extLst>
              <a:ext uri="{FF2B5EF4-FFF2-40B4-BE49-F238E27FC236}">
                <a16:creationId xmlns:a16="http://schemas.microsoft.com/office/drawing/2014/main" id="{48EBBBAF-A3AA-4B38-9909-2B74C59F267D}"/>
              </a:ext>
            </a:extLst>
          </p:cNvPr>
          <p:cNvSpPr>
            <a:spLocks noGrp="1"/>
          </p:cNvSpPr>
          <p:nvPr/>
        </p:nvSpPr>
        <p:spPr>
          <a:xfrm>
            <a:off x="8467725" y="4467225"/>
            <a:ext cx="333375" cy="333375"/>
          </a:xfrm>
          <a:prstGeom prst="ellipse">
            <a:avLst/>
          </a:prstGeom>
          <a:solidFill>
            <a:srgbClr val="F1C27D"/>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DE37B8A9-DC62-4D15-81F6-BEF27199613A}"/>
              </a:ext>
            </a:extLst>
          </p:cNvPr>
          <p:cNvSpPr>
            <a:spLocks noGrp="1"/>
          </p:cNvSpPr>
          <p:nvPr/>
        </p:nvSpPr>
        <p:spPr>
          <a:xfrm>
            <a:off x="9029700" y="4457700"/>
            <a:ext cx="647700" cy="285750"/>
          </a:xfrm>
          <a:prstGeom prst="rect">
            <a:avLst/>
          </a:prstGeom>
          <a:noFill/>
          <a:ln w="0">
            <a:noFill/>
          </a:ln>
        </p:spPr>
        <p:txBody>
          <a:bodyPr wrap="square" lIns="0" tIns="0" rIns="0" bIns="0" anchor="t">
            <a:normAutofit/>
          </a:bodyPr>
          <a:lstStyle/>
          <a:p>
            <a:pPr algn="l">
              <a:lnSpc>
                <a:spcPct val="108000"/>
              </a:lnSpc>
              <a:buNone/>
              <a:defRPr sz="1200" b="1">
                <a:solidFill>
                  <a:srgbClr val="F1C27D"/>
                </a:solidFill>
                <a:latin typeface="BIZ UDPGothic"/>
                <a:ea typeface="BIZ UDPGothic"/>
                <a:cs typeface="BIZ UDPGothic"/>
              </a:defRPr>
            </a:pPr>
            <a:r>
              <a:rPr sz="1200" b="1">
                <a:solidFill>
                  <a:srgbClr val="F1C27D"/>
                </a:solidFill>
                <a:latin typeface="BIZ UDPGothic"/>
                <a:ea typeface="BIZ UDPGothic"/>
                <a:cs typeface="BIZ UDPGothic"/>
              </a:rPr>
              <a:t>03</a:t>
            </a:r>
          </a:p>
        </p:txBody>
      </p:sp>
      <p:sp>
        <p:nvSpPr>
          <p:cNvPr id="14" name="正方形/長方形 13">
            <a:extLst>
              <a:ext uri="{FF2B5EF4-FFF2-40B4-BE49-F238E27FC236}">
                <a16:creationId xmlns:a16="http://schemas.microsoft.com/office/drawing/2014/main" id="{DB9CB9CA-DAC8-4D23-8E59-0145EF710234}"/>
              </a:ext>
            </a:extLst>
          </p:cNvPr>
          <p:cNvSpPr>
            <a:spLocks noGrp="1"/>
          </p:cNvSpPr>
          <p:nvPr/>
        </p:nvSpPr>
        <p:spPr>
          <a:xfrm>
            <a:off x="9029700" y="4762500"/>
            <a:ext cx="2381250" cy="4000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人が決める</a:t>
            </a:r>
          </a:p>
        </p:txBody>
      </p:sp>
    </p:spTree>
    <p:extLst>
      <p:ext uri="{BB962C8B-B14F-4D97-AF65-F5344CB8AC3E}">
        <p14:creationId xmlns:p14="http://schemas.microsoft.com/office/powerpoint/2010/main" val="704275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44C91EC6-560A-47C2-9BF9-643FBD780B08}"/>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C51C9A82-2158-4779-AF3C-7204FFD8AB7D}"/>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出張申請に散らばる確認作業</a:t>
            </a:r>
          </a:p>
        </p:txBody>
      </p:sp>
      <p:sp>
        <p:nvSpPr>
          <p:cNvPr id="3" name="正方形/長方形 2">
            <a:extLst>
              <a:ext uri="{FF2B5EF4-FFF2-40B4-BE49-F238E27FC236}">
                <a16:creationId xmlns:a16="http://schemas.microsoft.com/office/drawing/2014/main" id="{1E99B178-F250-4E54-9F64-08501A608224}"/>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8AE5CF95-411F-4B3C-B560-0E06D405CE4E}"/>
              </a:ext>
            </a:extLst>
          </p:cNvPr>
          <p:cNvSpPr>
            <a:spLocks noGrp="1"/>
          </p:cNvSpPr>
          <p:nvPr/>
        </p:nvSpPr>
        <p:spPr>
          <a:xfrm>
            <a:off x="666750" y="1819275"/>
            <a:ext cx="3905250" cy="390525"/>
          </a:xfrm>
          <a:prstGeom prst="rect">
            <a:avLst/>
          </a:prstGeom>
          <a:noFill/>
          <a:ln w="0">
            <a:noFill/>
          </a:ln>
        </p:spPr>
        <p:txBody>
          <a:bodyPr wrap="square" lIns="0" tIns="0" rIns="0" bIns="0" anchor="t">
            <a:normAutofit/>
          </a:bodyPr>
          <a:lstStyle/>
          <a:p>
            <a:pPr algn="l">
              <a:lnSpc>
                <a:spcPct val="108000"/>
              </a:lnSpc>
              <a:buNone/>
              <a:defRPr sz="1875" b="0">
                <a:solidFill>
                  <a:srgbClr val="A9B8C3"/>
                </a:solidFill>
                <a:latin typeface="BIZ UDPGothic"/>
                <a:ea typeface="BIZ UDPGothic"/>
                <a:cs typeface="BIZ UDPGothic"/>
              </a:defRPr>
            </a:pPr>
            <a:r>
              <a:rPr sz="1875" b="0">
                <a:solidFill>
                  <a:srgbClr val="A9B8C3"/>
                </a:solidFill>
                <a:latin typeface="BIZ UDPGothic"/>
                <a:ea typeface="BIZ UDPGothic"/>
                <a:cs typeface="BIZ UDPGothic"/>
              </a:rPr>
              <a:t>一件の出張で、人がつなぐもの</a:t>
            </a:r>
          </a:p>
        </p:txBody>
      </p:sp>
      <p:sp>
        <p:nvSpPr>
          <p:cNvPr id="5" name="正方形/長方形 4">
            <a:extLst>
              <a:ext uri="{FF2B5EF4-FFF2-40B4-BE49-F238E27FC236}">
                <a16:creationId xmlns:a16="http://schemas.microsoft.com/office/drawing/2014/main" id="{C3FCCC19-E125-4CDA-9B28-3E98E1CB602C}"/>
              </a:ext>
            </a:extLst>
          </p:cNvPr>
          <p:cNvSpPr>
            <a:spLocks noGrp="1"/>
          </p:cNvSpPr>
          <p:nvPr/>
        </p:nvSpPr>
        <p:spPr>
          <a:xfrm>
            <a:off x="714375" y="2695575"/>
            <a:ext cx="38100" cy="552450"/>
          </a:xfrm>
          <a:prstGeom prst="rect">
            <a:avLst/>
          </a:prstGeom>
          <a:solidFill>
            <a:srgbClr val="7DE0CC"/>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AFA76F58-C0B6-4383-8653-EF193201FB24}"/>
              </a:ext>
            </a:extLst>
          </p:cNvPr>
          <p:cNvSpPr>
            <a:spLocks noGrp="1"/>
          </p:cNvSpPr>
          <p:nvPr/>
        </p:nvSpPr>
        <p:spPr>
          <a:xfrm>
            <a:off x="971550" y="2619375"/>
            <a:ext cx="2476500" cy="3238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出張条件</a:t>
            </a:r>
          </a:p>
        </p:txBody>
      </p:sp>
      <p:sp>
        <p:nvSpPr>
          <p:cNvPr id="7" name="正方形/長方形 6">
            <a:extLst>
              <a:ext uri="{FF2B5EF4-FFF2-40B4-BE49-F238E27FC236}">
                <a16:creationId xmlns:a16="http://schemas.microsoft.com/office/drawing/2014/main" id="{CB3D665E-4FBC-4CDD-959E-37CF1320A5C9}"/>
              </a:ext>
            </a:extLst>
          </p:cNvPr>
          <p:cNvSpPr>
            <a:spLocks noGrp="1"/>
          </p:cNvSpPr>
          <p:nvPr/>
        </p:nvSpPr>
        <p:spPr>
          <a:xfrm>
            <a:off x="3714750" y="2647950"/>
            <a:ext cx="38100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目的・日程・移動の希望</a:t>
            </a:r>
          </a:p>
        </p:txBody>
      </p:sp>
      <p:sp>
        <p:nvSpPr>
          <p:cNvPr id="8" name="正方形/長方形 7">
            <a:extLst>
              <a:ext uri="{FF2B5EF4-FFF2-40B4-BE49-F238E27FC236}">
                <a16:creationId xmlns:a16="http://schemas.microsoft.com/office/drawing/2014/main" id="{D5060173-B53A-4267-89FB-0E017DD19DEC}"/>
              </a:ext>
            </a:extLst>
          </p:cNvPr>
          <p:cNvSpPr>
            <a:spLocks noGrp="1"/>
          </p:cNvSpPr>
          <p:nvPr/>
        </p:nvSpPr>
        <p:spPr>
          <a:xfrm>
            <a:off x="714375" y="3686175"/>
            <a:ext cx="38100" cy="552450"/>
          </a:xfrm>
          <a:prstGeom prst="rect">
            <a:avLst/>
          </a:prstGeom>
          <a:solidFill>
            <a:srgbClr val="83B8F4"/>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C9AC22A0-215A-40DE-B5A1-865B15396A77}"/>
              </a:ext>
            </a:extLst>
          </p:cNvPr>
          <p:cNvSpPr>
            <a:spLocks noGrp="1"/>
          </p:cNvSpPr>
          <p:nvPr/>
        </p:nvSpPr>
        <p:spPr>
          <a:xfrm>
            <a:off x="971550" y="3609975"/>
            <a:ext cx="2476500" cy="3238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旅費規程</a:t>
            </a:r>
          </a:p>
        </p:txBody>
      </p:sp>
      <p:sp>
        <p:nvSpPr>
          <p:cNvPr id="10" name="正方形/長方形 9">
            <a:extLst>
              <a:ext uri="{FF2B5EF4-FFF2-40B4-BE49-F238E27FC236}">
                <a16:creationId xmlns:a16="http://schemas.microsoft.com/office/drawing/2014/main" id="{0C089557-756D-4347-96EC-AEE6F026E1AE}"/>
              </a:ext>
            </a:extLst>
          </p:cNvPr>
          <p:cNvSpPr>
            <a:spLocks noGrp="1"/>
          </p:cNvSpPr>
          <p:nvPr/>
        </p:nvSpPr>
        <p:spPr>
          <a:xfrm>
            <a:off x="3714750" y="3638550"/>
            <a:ext cx="38100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上限・適用条件・根拠箇所</a:t>
            </a:r>
          </a:p>
        </p:txBody>
      </p:sp>
      <p:sp>
        <p:nvSpPr>
          <p:cNvPr id="11" name="正方形/長方形 10">
            <a:extLst>
              <a:ext uri="{FF2B5EF4-FFF2-40B4-BE49-F238E27FC236}">
                <a16:creationId xmlns:a16="http://schemas.microsoft.com/office/drawing/2014/main" id="{79E3FA86-F6CA-44BB-BFED-FDC05A807D95}"/>
              </a:ext>
            </a:extLst>
          </p:cNvPr>
          <p:cNvSpPr>
            <a:spLocks noGrp="1"/>
          </p:cNvSpPr>
          <p:nvPr/>
        </p:nvSpPr>
        <p:spPr>
          <a:xfrm>
            <a:off x="714375" y="4676775"/>
            <a:ext cx="38100" cy="552450"/>
          </a:xfrm>
          <a:prstGeom prst="rect">
            <a:avLst/>
          </a:prstGeom>
          <a:solidFill>
            <a:srgbClr val="F1C27D"/>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4CB79F3-8A41-442B-80BB-3650464FF51B}"/>
              </a:ext>
            </a:extLst>
          </p:cNvPr>
          <p:cNvSpPr>
            <a:spLocks noGrp="1"/>
          </p:cNvSpPr>
          <p:nvPr/>
        </p:nvSpPr>
        <p:spPr>
          <a:xfrm>
            <a:off x="971550" y="4600575"/>
            <a:ext cx="2476500" cy="323850"/>
          </a:xfrm>
          <a:prstGeom prst="rect">
            <a:avLst/>
          </a:prstGeom>
          <a:noFill/>
          <a:ln w="0">
            <a:noFill/>
          </a:ln>
        </p:spPr>
        <p:txBody>
          <a:bodyPr wrap="square" lIns="0" tIns="0" rIns="0" bIns="0" anchor="t">
            <a:normAutofit/>
          </a:bodyPr>
          <a:lstStyle/>
          <a:p>
            <a:pPr algn="l">
              <a:lnSpc>
                <a:spcPct val="108000"/>
              </a:lnSpc>
              <a:buNone/>
              <a:defRPr sz="1875" b="1">
                <a:solidFill>
                  <a:srgbClr val="F4F5F1"/>
                </a:solidFill>
                <a:latin typeface="BIZ UDPGothic"/>
                <a:ea typeface="BIZ UDPGothic"/>
                <a:cs typeface="BIZ UDPGothic"/>
              </a:defRPr>
            </a:pPr>
            <a:r>
              <a:rPr sz="1875" b="1">
                <a:solidFill>
                  <a:srgbClr val="F4F5F1"/>
                </a:solidFill>
                <a:latin typeface="BIZ UDPGothic"/>
                <a:ea typeface="BIZ UDPGothic"/>
                <a:cs typeface="BIZ UDPGothic"/>
              </a:rPr>
              <a:t>申請・承認</a:t>
            </a:r>
          </a:p>
        </p:txBody>
      </p:sp>
      <p:sp>
        <p:nvSpPr>
          <p:cNvPr id="13" name="正方形/長方形 12">
            <a:extLst>
              <a:ext uri="{FF2B5EF4-FFF2-40B4-BE49-F238E27FC236}">
                <a16:creationId xmlns:a16="http://schemas.microsoft.com/office/drawing/2014/main" id="{91F7370A-AC7D-4C73-A478-9153DDBDBB7C}"/>
              </a:ext>
            </a:extLst>
          </p:cNvPr>
          <p:cNvSpPr>
            <a:spLocks noGrp="1"/>
          </p:cNvSpPr>
          <p:nvPr/>
        </p:nvSpPr>
        <p:spPr>
          <a:xfrm>
            <a:off x="3714750" y="4629150"/>
            <a:ext cx="38100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比較・説明・メール作成</a:t>
            </a:r>
          </a:p>
        </p:txBody>
      </p:sp>
      <p:sp>
        <p:nvSpPr>
          <p:cNvPr id="14" name="正方形/長方形 13">
            <a:extLst>
              <a:ext uri="{FF2B5EF4-FFF2-40B4-BE49-F238E27FC236}">
                <a16:creationId xmlns:a16="http://schemas.microsoft.com/office/drawing/2014/main" id="{AB151329-246B-4B55-9010-C8614AF606FB}"/>
              </a:ext>
            </a:extLst>
          </p:cNvPr>
          <p:cNvSpPr>
            <a:spLocks noGrp="1"/>
          </p:cNvSpPr>
          <p:nvPr/>
        </p:nvSpPr>
        <p:spPr>
          <a:xfrm>
            <a:off x="8248650" y="2447925"/>
            <a:ext cx="3105150" cy="457200"/>
          </a:xfrm>
          <a:prstGeom prst="rect">
            <a:avLst/>
          </a:prstGeom>
          <a:noFill/>
          <a:ln w="0">
            <a:noFill/>
          </a:ln>
        </p:spPr>
        <p:txBody>
          <a:bodyPr wrap="square" lIns="0" tIns="0" rIns="0" bIns="0" anchor="t">
            <a:normAutofit/>
          </a:bodyPr>
          <a:lstStyle/>
          <a:p>
            <a:pPr algn="ctr">
              <a:lnSpc>
                <a:spcPct val="108000"/>
              </a:lnSpc>
              <a:buNone/>
              <a:defRPr sz="1575" b="0">
                <a:solidFill>
                  <a:srgbClr val="A9B8C3"/>
                </a:solidFill>
                <a:latin typeface="BIZ UDPGothic"/>
                <a:ea typeface="BIZ UDPGothic"/>
                <a:cs typeface="BIZ UDPGothic"/>
              </a:defRPr>
            </a:pPr>
            <a:r>
              <a:rPr sz="1575" b="0">
                <a:solidFill>
                  <a:srgbClr val="A9B8C3"/>
                </a:solidFill>
                <a:latin typeface="BIZ UDPGothic"/>
                <a:ea typeface="BIZ UDPGothic"/>
                <a:cs typeface="BIZ UDPGothic"/>
              </a:rPr>
              <a:t>確認のたびに</a:t>
            </a:r>
          </a:p>
        </p:txBody>
      </p:sp>
      <p:sp>
        <p:nvSpPr>
          <p:cNvPr id="15" name="正方形/長方形 14">
            <a:extLst>
              <a:ext uri="{FF2B5EF4-FFF2-40B4-BE49-F238E27FC236}">
                <a16:creationId xmlns:a16="http://schemas.microsoft.com/office/drawing/2014/main" id="{89E11278-03AF-471A-9B16-4015D8C7E213}"/>
              </a:ext>
            </a:extLst>
          </p:cNvPr>
          <p:cNvSpPr>
            <a:spLocks noGrp="1"/>
          </p:cNvSpPr>
          <p:nvPr/>
        </p:nvSpPr>
        <p:spPr>
          <a:xfrm>
            <a:off x="8153400" y="2962275"/>
            <a:ext cx="3295650" cy="1028700"/>
          </a:xfrm>
          <a:prstGeom prst="rect">
            <a:avLst/>
          </a:prstGeom>
          <a:noFill/>
          <a:ln w="0">
            <a:noFill/>
          </a:ln>
        </p:spPr>
        <p:txBody>
          <a:bodyPr wrap="square" lIns="0" tIns="0" rIns="0" bIns="0" anchor="t">
            <a:normAutofit/>
          </a:bodyPr>
          <a:lstStyle/>
          <a:p>
            <a:pPr algn="ctr">
              <a:lnSpc>
                <a:spcPct val="120000"/>
              </a:lnSpc>
              <a:buNone/>
              <a:defRPr sz="2400" b="1">
                <a:solidFill>
                  <a:srgbClr val="F4F5F1"/>
                </a:solidFill>
                <a:latin typeface="BIZ UDPGothic"/>
                <a:ea typeface="BIZ UDPGothic"/>
                <a:cs typeface="BIZ UDPGothic"/>
              </a:defRPr>
            </a:pPr>
            <a:r>
              <a:rPr sz="2400" b="1">
                <a:solidFill>
                  <a:srgbClr val="F4F5F1"/>
                </a:solidFill>
                <a:latin typeface="BIZ UDPGothic"/>
                <a:ea typeface="BIZ UDPGothic"/>
                <a:cs typeface="BIZ UDPGothic"/>
              </a:rPr>
              <a:t>条件・規程・費用を</a:t>
            </a:r>
          </a:p>
          <a:p>
            <a:pPr algn="ctr">
              <a:lnSpc>
                <a:spcPct val="120000"/>
              </a:lnSpc>
              <a:buNone/>
              <a:defRPr sz="2400" b="1">
                <a:solidFill>
                  <a:srgbClr val="F4F5F1"/>
                </a:solidFill>
                <a:latin typeface="BIZ UDPGothic"/>
                <a:ea typeface="BIZ UDPGothic"/>
                <a:cs typeface="BIZ UDPGothic"/>
              </a:defRPr>
            </a:pPr>
            <a:r>
              <a:rPr sz="2400" b="1">
                <a:solidFill>
                  <a:srgbClr val="F4F5F1"/>
                </a:solidFill>
                <a:latin typeface="BIZ UDPGothic"/>
                <a:ea typeface="BIZ UDPGothic"/>
                <a:cs typeface="BIZ UDPGothic"/>
              </a:rPr>
              <a:t>まとめて確認</a:t>
            </a:r>
          </a:p>
        </p:txBody>
      </p:sp>
      <p:sp>
        <p:nvSpPr>
          <p:cNvPr id="16" name="正方形/長方形 15">
            <a:extLst>
              <a:ext uri="{FF2B5EF4-FFF2-40B4-BE49-F238E27FC236}">
                <a16:creationId xmlns:a16="http://schemas.microsoft.com/office/drawing/2014/main" id="{3C8EFE3A-24DD-42D3-87B4-32085E29C4AB}"/>
              </a:ext>
            </a:extLst>
          </p:cNvPr>
          <p:cNvSpPr>
            <a:spLocks noGrp="1"/>
          </p:cNvSpPr>
          <p:nvPr/>
        </p:nvSpPr>
        <p:spPr>
          <a:xfrm>
            <a:off x="8915400" y="4305300"/>
            <a:ext cx="1771650" cy="19050"/>
          </a:xfrm>
          <a:prstGeom prst="rect">
            <a:avLst/>
          </a:prstGeom>
          <a:solidFill>
            <a:srgbClr val="304454"/>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93E89992-1E64-4655-AEEB-9029C1D4C1D6}"/>
              </a:ext>
            </a:extLst>
          </p:cNvPr>
          <p:cNvSpPr>
            <a:spLocks noGrp="1"/>
          </p:cNvSpPr>
          <p:nvPr/>
        </p:nvSpPr>
        <p:spPr>
          <a:xfrm>
            <a:off x="8334375" y="4600575"/>
            <a:ext cx="2952750" cy="638175"/>
          </a:xfrm>
          <a:prstGeom prst="rect">
            <a:avLst/>
          </a:prstGeom>
          <a:noFill/>
          <a:ln w="0">
            <a:noFill/>
          </a:ln>
        </p:spPr>
        <p:txBody>
          <a:bodyPr wrap="square" lIns="0" tIns="0" rIns="0" bIns="0" anchor="t">
            <a:normAutofit fontScale="93056"/>
          </a:bodyPr>
          <a:lstStyle/>
          <a:p>
            <a:pPr algn="ctr">
              <a:lnSpc>
                <a:spcPct val="120000"/>
              </a:lnSpc>
              <a:buNone/>
              <a:defRPr sz="1875" b="1">
                <a:solidFill>
                  <a:srgbClr val="7DE0CC"/>
                </a:solidFill>
                <a:latin typeface="BIZ UDPGothic"/>
                <a:ea typeface="BIZ UDPGothic"/>
                <a:cs typeface="BIZ UDPGothic"/>
              </a:defRPr>
            </a:pPr>
            <a:r>
              <a:rPr sz="1875" b="1">
                <a:solidFill>
                  <a:srgbClr val="7DE0CC"/>
                </a:solidFill>
                <a:latin typeface="BIZ UDPGothic"/>
                <a:ea typeface="BIZ UDPGothic"/>
                <a:cs typeface="BIZ UDPGothic"/>
              </a:rPr>
              <a:t>準備から申請までを</a:t>
            </a:r>
          </a:p>
          <a:p>
            <a:pPr algn="ctr">
              <a:lnSpc>
                <a:spcPct val="120000"/>
              </a:lnSpc>
              <a:buNone/>
              <a:defRPr sz="1875" b="1">
                <a:solidFill>
                  <a:srgbClr val="7DE0CC"/>
                </a:solidFill>
                <a:latin typeface="BIZ UDPGothic"/>
                <a:ea typeface="BIZ UDPGothic"/>
                <a:cs typeface="BIZ UDPGothic"/>
              </a:defRPr>
            </a:pPr>
            <a:r>
              <a:rPr sz="1875" b="1">
                <a:solidFill>
                  <a:srgbClr val="7DE0CC"/>
                </a:solidFill>
                <a:latin typeface="BIZ UDPGothic"/>
                <a:ea typeface="BIZ UDPGothic"/>
                <a:cs typeface="BIZ UDPGothic"/>
              </a:rPr>
              <a:t>ひとつの流れに</a:t>
            </a:r>
          </a:p>
        </p:txBody>
      </p:sp>
    </p:spTree>
    <p:extLst>
      <p:ext uri="{BB962C8B-B14F-4D97-AF65-F5344CB8AC3E}">
        <p14:creationId xmlns:p14="http://schemas.microsoft.com/office/powerpoint/2010/main" val="115330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D02D3A2C-2F7E-40BB-BCD1-CA03C0363DF0}"/>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1201EDE4-D8FF-4EE2-A5E6-E90DB5D71559}"/>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自然文から、出張条件と旅費計画へ</a:t>
            </a:r>
          </a:p>
        </p:txBody>
      </p:sp>
      <p:sp>
        <p:nvSpPr>
          <p:cNvPr id="3" name="正方形/長方形 2">
            <a:extLst>
              <a:ext uri="{FF2B5EF4-FFF2-40B4-BE49-F238E27FC236}">
                <a16:creationId xmlns:a16="http://schemas.microsoft.com/office/drawing/2014/main" id="{EAD6502A-2F37-410C-B2F8-E852B656BDD8}"/>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CB5163FF-9F75-487B-88D7-0092E47AE7A0}"/>
              </a:ext>
            </a:extLst>
          </p:cNvPr>
          <p:cNvSpPr>
            <a:spLocks noGrp="1"/>
          </p:cNvSpPr>
          <p:nvPr/>
        </p:nvSpPr>
        <p:spPr>
          <a:xfrm>
            <a:off x="685800" y="1625779"/>
            <a:ext cx="3143250" cy="276225"/>
          </a:xfrm>
          <a:prstGeom prst="rect">
            <a:avLst/>
          </a:prstGeom>
          <a:noFill/>
          <a:ln w="0">
            <a:noFill/>
          </a:ln>
        </p:spPr>
        <p:txBody>
          <a:bodyPr wrap="square" lIns="0" tIns="0" rIns="0" bIns="0" anchor="t">
            <a:normAutofit/>
          </a:bodyPr>
          <a:lstStyle/>
          <a:p>
            <a:pPr algn="l">
              <a:lnSpc>
                <a:spcPct val="108000"/>
              </a:lnSpc>
              <a:buNone/>
              <a:defRPr sz="1350" b="1">
                <a:solidFill>
                  <a:srgbClr val="7DE0CC"/>
                </a:solidFill>
                <a:latin typeface="BIZ UDPGothic"/>
                <a:ea typeface="BIZ UDPGothic"/>
                <a:cs typeface="BIZ UDPGothic"/>
              </a:defRPr>
            </a:pPr>
            <a:r>
              <a:rPr sz="1350" b="1">
                <a:solidFill>
                  <a:srgbClr val="7DE0CC"/>
                </a:solidFill>
                <a:latin typeface="BIZ UDPGothic"/>
                <a:ea typeface="BIZ UDPGothic"/>
                <a:cs typeface="BIZ UDPGothic"/>
              </a:rPr>
              <a:t>利用者の入力</a:t>
            </a:r>
          </a:p>
        </p:txBody>
      </p:sp>
      <p:sp>
        <p:nvSpPr>
          <p:cNvPr id="5" name="角丸四角形 4">
            <a:extLst>
              <a:ext uri="{FF2B5EF4-FFF2-40B4-BE49-F238E27FC236}">
                <a16:creationId xmlns:a16="http://schemas.microsoft.com/office/drawing/2014/main" id="{469D1C36-2F3E-49DF-8371-105BA31E97EB}"/>
              </a:ext>
            </a:extLst>
          </p:cNvPr>
          <p:cNvSpPr>
            <a:spLocks noGrp="1"/>
          </p:cNvSpPr>
          <p:nvPr/>
        </p:nvSpPr>
        <p:spPr>
          <a:xfrm>
            <a:off x="666750" y="1997254"/>
            <a:ext cx="4362450" cy="2076450"/>
          </a:xfrm>
          <a:prstGeom prst="roundRect">
            <a:avLst>
              <a:gd name="adj" fmla="val 7339"/>
            </a:avLst>
          </a:prstGeom>
          <a:solidFill>
            <a:srgbClr val="121F2D"/>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41446DE8-B2C3-4DC4-B0ED-05AE2EB6E462}"/>
              </a:ext>
            </a:extLst>
          </p:cNvPr>
          <p:cNvSpPr>
            <a:spLocks noGrp="1"/>
          </p:cNvSpPr>
          <p:nvPr/>
        </p:nvSpPr>
        <p:spPr>
          <a:xfrm>
            <a:off x="962025" y="2321104"/>
            <a:ext cx="3762375" cy="1066800"/>
          </a:xfrm>
          <a:prstGeom prst="rect">
            <a:avLst/>
          </a:prstGeom>
          <a:noFill/>
          <a:ln w="0">
            <a:noFill/>
          </a:ln>
        </p:spPr>
        <p:txBody>
          <a:bodyPr wrap="square" lIns="0" tIns="0" rIns="0" bIns="0" anchor="t">
            <a:normAutofit/>
          </a:bodyPr>
          <a:lstStyle/>
          <a:p>
            <a:pPr algn="l">
              <a:lnSpc>
                <a:spcPct val="126000"/>
              </a:lnSpc>
              <a:buNone/>
              <a:defRPr sz="2100" b="1">
                <a:solidFill>
                  <a:srgbClr val="F4F5F1"/>
                </a:solidFill>
                <a:latin typeface="BIZ UDPGothic"/>
                <a:ea typeface="BIZ UDPGothic"/>
                <a:cs typeface="BIZ UDPGothic"/>
              </a:defRPr>
            </a:pPr>
            <a:r>
              <a:rPr sz="2100" b="1">
                <a:solidFill>
                  <a:srgbClr val="F4F5F1"/>
                </a:solidFill>
                <a:latin typeface="BIZ UDPGothic"/>
                <a:ea typeface="BIZ UDPGothic"/>
                <a:cs typeface="BIZ UDPGothic"/>
              </a:rPr>
              <a:t>東京駅から大阪市へ</a:t>
            </a:r>
          </a:p>
          <a:p>
            <a:pPr algn="l">
              <a:lnSpc>
                <a:spcPct val="126000"/>
              </a:lnSpc>
              <a:buNone/>
              <a:defRPr sz="2100" b="1">
                <a:solidFill>
                  <a:srgbClr val="F4F5F1"/>
                </a:solidFill>
                <a:latin typeface="BIZ UDPGothic"/>
                <a:ea typeface="BIZ UDPGothic"/>
                <a:cs typeface="BIZ UDPGothic"/>
              </a:defRPr>
            </a:pPr>
            <a:r>
              <a:rPr sz="2100" b="1">
                <a:solidFill>
                  <a:srgbClr val="F4F5F1"/>
                </a:solidFill>
                <a:latin typeface="BIZ UDPGothic"/>
                <a:ea typeface="BIZ UDPGothic"/>
                <a:cs typeface="BIZ UDPGothic"/>
              </a:rPr>
              <a:t>一泊二日。予算上限も設定</a:t>
            </a:r>
          </a:p>
        </p:txBody>
      </p:sp>
      <p:sp>
        <p:nvSpPr>
          <p:cNvPr id="7" name="正方形/長方形 6">
            <a:extLst>
              <a:ext uri="{FF2B5EF4-FFF2-40B4-BE49-F238E27FC236}">
                <a16:creationId xmlns:a16="http://schemas.microsoft.com/office/drawing/2014/main" id="{C4A403B9-F07B-4B1C-AF71-6FD153555893}"/>
              </a:ext>
            </a:extLst>
          </p:cNvPr>
          <p:cNvSpPr>
            <a:spLocks noGrp="1"/>
          </p:cNvSpPr>
          <p:nvPr/>
        </p:nvSpPr>
        <p:spPr>
          <a:xfrm>
            <a:off x="971550" y="3559354"/>
            <a:ext cx="3638550" cy="266700"/>
          </a:xfrm>
          <a:prstGeom prst="rect">
            <a:avLst/>
          </a:prstGeom>
          <a:noFill/>
          <a:ln w="0">
            <a:noFill/>
          </a:ln>
        </p:spPr>
        <p:txBody>
          <a:bodyPr wrap="square" lIns="0" tIns="0" rIns="0" bIns="0" anchor="t">
            <a:normAutofit/>
          </a:bodyPr>
          <a:lstStyle/>
          <a:p>
            <a:pPr algn="l">
              <a:lnSpc>
                <a:spcPct val="108000"/>
              </a:lnSpc>
              <a:buNone/>
              <a:defRPr sz="1275" b="0">
                <a:solidFill>
                  <a:srgbClr val="6F8493"/>
                </a:solidFill>
                <a:latin typeface="BIZ UDPGothic"/>
                <a:ea typeface="BIZ UDPGothic"/>
                <a:cs typeface="BIZ UDPGothic"/>
              </a:defRPr>
            </a:pPr>
            <a:r>
              <a:rPr sz="1275" b="0">
                <a:solidFill>
                  <a:srgbClr val="6F8493"/>
                </a:solidFill>
                <a:latin typeface="BIZ UDPGothic"/>
                <a:ea typeface="BIZ UDPGothic"/>
                <a:cs typeface="BIZ UDPGothic"/>
              </a:rPr>
              <a:t>デモ用の固定条件</a:t>
            </a:r>
          </a:p>
        </p:txBody>
      </p:sp>
      <p:sp>
        <p:nvSpPr>
          <p:cNvPr id="8" name="正方形/長方形 7">
            <a:extLst>
              <a:ext uri="{FF2B5EF4-FFF2-40B4-BE49-F238E27FC236}">
                <a16:creationId xmlns:a16="http://schemas.microsoft.com/office/drawing/2014/main" id="{D6AC16BB-E858-41F9-8EE6-2CC166CE9A1D}"/>
              </a:ext>
            </a:extLst>
          </p:cNvPr>
          <p:cNvSpPr>
            <a:spLocks noGrp="1"/>
          </p:cNvSpPr>
          <p:nvPr/>
        </p:nvSpPr>
        <p:spPr>
          <a:xfrm>
            <a:off x="5276850" y="2606854"/>
            <a:ext cx="1066800" cy="266700"/>
          </a:xfrm>
          <a:prstGeom prst="rect">
            <a:avLst/>
          </a:prstGeom>
          <a:noFill/>
          <a:ln w="0">
            <a:noFill/>
          </a:ln>
        </p:spPr>
        <p:txBody>
          <a:bodyPr wrap="square" lIns="0" tIns="0" rIns="0" bIns="0" anchor="t">
            <a:normAutofit/>
          </a:bodyPr>
          <a:lstStyle/>
          <a:p>
            <a:pPr algn="ctr">
              <a:lnSpc>
                <a:spcPct val="108000"/>
              </a:lnSpc>
              <a:buNone/>
              <a:defRPr sz="1275" b="0">
                <a:solidFill>
                  <a:srgbClr val="A9B8C3"/>
                </a:solidFill>
                <a:latin typeface="BIZ UDPGothic"/>
                <a:ea typeface="BIZ UDPGothic"/>
                <a:cs typeface="BIZ UDPGothic"/>
              </a:defRPr>
            </a:pPr>
            <a:r>
              <a:rPr sz="1275" b="0">
                <a:solidFill>
                  <a:srgbClr val="A9B8C3"/>
                </a:solidFill>
                <a:latin typeface="BIZ UDPGothic"/>
                <a:ea typeface="BIZ UDPGothic"/>
                <a:cs typeface="BIZ UDPGothic"/>
              </a:rPr>
              <a:t>対話で確認</a:t>
            </a:r>
          </a:p>
        </p:txBody>
      </p:sp>
      <p:sp>
        <p:nvSpPr>
          <p:cNvPr id="9" name="正方形/長方形 8">
            <a:extLst>
              <a:ext uri="{FF2B5EF4-FFF2-40B4-BE49-F238E27FC236}">
                <a16:creationId xmlns:a16="http://schemas.microsoft.com/office/drawing/2014/main" id="{ACC91BA0-384E-4B48-BBE6-81789E80B30A}"/>
              </a:ext>
            </a:extLst>
          </p:cNvPr>
          <p:cNvSpPr>
            <a:spLocks noGrp="1"/>
          </p:cNvSpPr>
          <p:nvPr/>
        </p:nvSpPr>
        <p:spPr>
          <a:xfrm>
            <a:off x="5381625" y="3073579"/>
            <a:ext cx="800100" cy="28575"/>
          </a:xfrm>
          <a:prstGeom prst="rect">
            <a:avLst/>
          </a:prstGeom>
          <a:solidFill>
            <a:srgbClr val="7DE0CC"/>
          </a:solidFill>
          <a:ln w="0">
            <a:noFill/>
          </a:ln>
        </p:spPr>
        <p:txBody>
          <a:bodyPr/>
          <a:lstStyle/>
          <a:p>
            <a:endParaRPr lang="ja-JP" altLang="en-US"/>
          </a:p>
        </p:txBody>
      </p:sp>
      <p:sp>
        <p:nvSpPr>
          <p:cNvPr id="10" name="山形 9">
            <a:extLst>
              <a:ext uri="{FF2B5EF4-FFF2-40B4-BE49-F238E27FC236}">
                <a16:creationId xmlns:a16="http://schemas.microsoft.com/office/drawing/2014/main" id="{D7BCD975-FBF2-43FA-8CD7-E7BFC03FA341}"/>
              </a:ext>
            </a:extLst>
          </p:cNvPr>
          <p:cNvSpPr>
            <a:spLocks noGrp="1"/>
          </p:cNvSpPr>
          <p:nvPr/>
        </p:nvSpPr>
        <p:spPr>
          <a:xfrm>
            <a:off x="6115050" y="2949754"/>
            <a:ext cx="228600" cy="257175"/>
          </a:xfrm>
          <a:prstGeom prst="chevron">
            <a:avLst/>
          </a:prstGeom>
          <a:solidFill>
            <a:srgbClr val="7DE0CC"/>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6D1EBB48-F7D1-4590-BD6B-D84619EFAAC1}"/>
              </a:ext>
            </a:extLst>
          </p:cNvPr>
          <p:cNvSpPr>
            <a:spLocks noGrp="1"/>
          </p:cNvSpPr>
          <p:nvPr/>
        </p:nvSpPr>
        <p:spPr>
          <a:xfrm>
            <a:off x="6838950" y="1625779"/>
            <a:ext cx="4000500" cy="276225"/>
          </a:xfrm>
          <a:prstGeom prst="rect">
            <a:avLst/>
          </a:prstGeom>
          <a:noFill/>
          <a:ln w="0">
            <a:noFill/>
          </a:ln>
        </p:spPr>
        <p:txBody>
          <a:bodyPr wrap="square" lIns="0" tIns="0" rIns="0" bIns="0" anchor="t">
            <a:normAutofit/>
          </a:bodyPr>
          <a:lstStyle/>
          <a:p>
            <a:pPr algn="l">
              <a:lnSpc>
                <a:spcPct val="108000"/>
              </a:lnSpc>
              <a:buNone/>
              <a:defRPr sz="1350" b="1">
                <a:solidFill>
                  <a:srgbClr val="83B8F4"/>
                </a:solidFill>
                <a:latin typeface="BIZ UDPGothic"/>
                <a:ea typeface="BIZ UDPGothic"/>
                <a:cs typeface="BIZ UDPGothic"/>
              </a:defRPr>
            </a:pPr>
            <a:r>
              <a:rPr sz="1350" b="1">
                <a:solidFill>
                  <a:srgbClr val="83B8F4"/>
                </a:solidFill>
                <a:latin typeface="BIZ UDPGothic"/>
                <a:ea typeface="BIZ UDPGothic"/>
                <a:cs typeface="BIZ UDPGothic"/>
              </a:rPr>
              <a:t>計画に使う条件</a:t>
            </a:r>
          </a:p>
        </p:txBody>
      </p:sp>
      <p:sp>
        <p:nvSpPr>
          <p:cNvPr id="12" name="円/楕円 11">
            <a:extLst>
              <a:ext uri="{FF2B5EF4-FFF2-40B4-BE49-F238E27FC236}">
                <a16:creationId xmlns:a16="http://schemas.microsoft.com/office/drawing/2014/main" id="{E8B33B74-397D-4082-AEDC-6379214C49DE}"/>
              </a:ext>
            </a:extLst>
          </p:cNvPr>
          <p:cNvSpPr>
            <a:spLocks noGrp="1"/>
          </p:cNvSpPr>
          <p:nvPr/>
        </p:nvSpPr>
        <p:spPr>
          <a:xfrm>
            <a:off x="6858000" y="2206804"/>
            <a:ext cx="152400" cy="152400"/>
          </a:xfrm>
          <a:prstGeom prst="ellipse">
            <a:avLst/>
          </a:prstGeom>
          <a:solidFill>
            <a:srgbClr val="7DE0CC"/>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09CF2791-A011-4DD7-8D58-887CC1132E5E}"/>
              </a:ext>
            </a:extLst>
          </p:cNvPr>
          <p:cNvSpPr>
            <a:spLocks noGrp="1"/>
          </p:cNvSpPr>
          <p:nvPr/>
        </p:nvSpPr>
        <p:spPr>
          <a:xfrm>
            <a:off x="7162800" y="2140129"/>
            <a:ext cx="4095750" cy="361950"/>
          </a:xfrm>
          <a:prstGeom prst="rect">
            <a:avLst/>
          </a:prstGeom>
          <a:noFill/>
          <a:ln w="0">
            <a:noFill/>
          </a:ln>
        </p:spPr>
        <p:txBody>
          <a:bodyPr wrap="square" lIns="0" tIns="0" rIns="0" bIns="0" anchor="t">
            <a:normAutofit/>
          </a:bodyPr>
          <a:lstStyle/>
          <a:p>
            <a:pPr algn="l">
              <a:lnSpc>
                <a:spcPct val="108000"/>
              </a:lnSpc>
              <a:buNone/>
              <a:defRPr sz="1800" b="1">
                <a:solidFill>
                  <a:srgbClr val="F4F5F1"/>
                </a:solidFill>
                <a:latin typeface="BIZ UDPGothic"/>
                <a:ea typeface="BIZ UDPGothic"/>
                <a:cs typeface="BIZ UDPGothic"/>
              </a:defRPr>
            </a:pPr>
            <a:r>
              <a:rPr sz="1800" b="1">
                <a:solidFill>
                  <a:srgbClr val="F4F5F1"/>
                </a:solidFill>
                <a:latin typeface="BIZ UDPGothic"/>
                <a:ea typeface="BIZ UDPGothic"/>
                <a:cs typeface="BIZ UDPGothic"/>
              </a:rPr>
              <a:t>出発地・目的地</a:t>
            </a:r>
          </a:p>
        </p:txBody>
      </p:sp>
      <p:sp>
        <p:nvSpPr>
          <p:cNvPr id="14" name="正方形/長方形 13">
            <a:extLst>
              <a:ext uri="{FF2B5EF4-FFF2-40B4-BE49-F238E27FC236}">
                <a16:creationId xmlns:a16="http://schemas.microsoft.com/office/drawing/2014/main" id="{2FB6BE53-6949-4929-8309-726B11874232}"/>
              </a:ext>
            </a:extLst>
          </p:cNvPr>
          <p:cNvSpPr>
            <a:spLocks noGrp="1"/>
          </p:cNvSpPr>
          <p:nvPr/>
        </p:nvSpPr>
        <p:spPr>
          <a:xfrm>
            <a:off x="7162800" y="2654479"/>
            <a:ext cx="3714750" cy="9525"/>
          </a:xfrm>
          <a:prstGeom prst="rect">
            <a:avLst/>
          </a:prstGeom>
          <a:solidFill>
            <a:srgbClr val="304454"/>
          </a:solidFill>
          <a:ln w="0">
            <a:noFill/>
          </a:ln>
        </p:spPr>
        <p:txBody>
          <a:bodyPr/>
          <a:lstStyle/>
          <a:p>
            <a:endParaRPr lang="ja-JP" altLang="en-US"/>
          </a:p>
        </p:txBody>
      </p:sp>
      <p:sp>
        <p:nvSpPr>
          <p:cNvPr id="15" name="円/楕円 14">
            <a:extLst>
              <a:ext uri="{FF2B5EF4-FFF2-40B4-BE49-F238E27FC236}">
                <a16:creationId xmlns:a16="http://schemas.microsoft.com/office/drawing/2014/main" id="{3C7C46FA-3C53-43D4-885A-BF73B43173EF}"/>
              </a:ext>
            </a:extLst>
          </p:cNvPr>
          <p:cNvSpPr>
            <a:spLocks noGrp="1"/>
          </p:cNvSpPr>
          <p:nvPr/>
        </p:nvSpPr>
        <p:spPr>
          <a:xfrm>
            <a:off x="6858000" y="2987854"/>
            <a:ext cx="152400" cy="152400"/>
          </a:xfrm>
          <a:prstGeom prst="ellipse">
            <a:avLst/>
          </a:prstGeom>
          <a:solidFill>
            <a:srgbClr val="83B8F4"/>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41B66587-0DFA-4853-AEFB-515D12B29FAB}"/>
              </a:ext>
            </a:extLst>
          </p:cNvPr>
          <p:cNvSpPr>
            <a:spLocks noGrp="1"/>
          </p:cNvSpPr>
          <p:nvPr/>
        </p:nvSpPr>
        <p:spPr>
          <a:xfrm>
            <a:off x="7162800" y="2921179"/>
            <a:ext cx="4095750" cy="361950"/>
          </a:xfrm>
          <a:prstGeom prst="rect">
            <a:avLst/>
          </a:prstGeom>
          <a:noFill/>
          <a:ln w="0">
            <a:noFill/>
          </a:ln>
        </p:spPr>
        <p:txBody>
          <a:bodyPr wrap="square" lIns="0" tIns="0" rIns="0" bIns="0" anchor="t">
            <a:normAutofit/>
          </a:bodyPr>
          <a:lstStyle/>
          <a:p>
            <a:pPr algn="l">
              <a:lnSpc>
                <a:spcPct val="108000"/>
              </a:lnSpc>
              <a:buNone/>
              <a:defRPr sz="1800" b="1">
                <a:solidFill>
                  <a:srgbClr val="F4F5F1"/>
                </a:solidFill>
                <a:latin typeface="BIZ UDPGothic"/>
                <a:ea typeface="BIZ UDPGothic"/>
                <a:cs typeface="BIZ UDPGothic"/>
              </a:defRPr>
            </a:pPr>
            <a:r>
              <a:rPr sz="1800" b="1">
                <a:solidFill>
                  <a:srgbClr val="F4F5F1"/>
                </a:solidFill>
                <a:latin typeface="BIZ UDPGothic"/>
                <a:ea typeface="BIZ UDPGothic"/>
                <a:cs typeface="BIZ UDPGothic"/>
              </a:rPr>
              <a:t>出発・到着・帰着日時</a:t>
            </a:r>
          </a:p>
        </p:txBody>
      </p:sp>
      <p:sp>
        <p:nvSpPr>
          <p:cNvPr id="17" name="正方形/長方形 16">
            <a:extLst>
              <a:ext uri="{FF2B5EF4-FFF2-40B4-BE49-F238E27FC236}">
                <a16:creationId xmlns:a16="http://schemas.microsoft.com/office/drawing/2014/main" id="{2FDFAE27-99B8-4EDC-9BAE-DF531BD7B04A}"/>
              </a:ext>
            </a:extLst>
          </p:cNvPr>
          <p:cNvSpPr>
            <a:spLocks noGrp="1"/>
          </p:cNvSpPr>
          <p:nvPr/>
        </p:nvSpPr>
        <p:spPr>
          <a:xfrm>
            <a:off x="7162800" y="3435529"/>
            <a:ext cx="3714750" cy="9525"/>
          </a:xfrm>
          <a:prstGeom prst="rect">
            <a:avLst/>
          </a:prstGeom>
          <a:solidFill>
            <a:srgbClr val="304454"/>
          </a:solidFill>
          <a:ln w="0">
            <a:noFill/>
          </a:ln>
        </p:spPr>
        <p:txBody>
          <a:bodyPr/>
          <a:lstStyle/>
          <a:p>
            <a:endParaRPr lang="ja-JP" altLang="en-US"/>
          </a:p>
        </p:txBody>
      </p:sp>
      <p:sp>
        <p:nvSpPr>
          <p:cNvPr id="18" name="円/楕円 17">
            <a:extLst>
              <a:ext uri="{FF2B5EF4-FFF2-40B4-BE49-F238E27FC236}">
                <a16:creationId xmlns:a16="http://schemas.microsoft.com/office/drawing/2014/main" id="{E239B252-E63C-4E2F-9516-A02FD5BE2778}"/>
              </a:ext>
            </a:extLst>
          </p:cNvPr>
          <p:cNvSpPr>
            <a:spLocks noGrp="1"/>
          </p:cNvSpPr>
          <p:nvPr/>
        </p:nvSpPr>
        <p:spPr>
          <a:xfrm>
            <a:off x="6858000" y="3768904"/>
            <a:ext cx="152400" cy="152400"/>
          </a:xfrm>
          <a:prstGeom prst="ellipse">
            <a:avLst/>
          </a:prstGeom>
          <a:solidFill>
            <a:srgbClr val="F1C27D"/>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9E75DB4B-BF4E-4A57-AA0B-1A4E4C34FF80}"/>
              </a:ext>
            </a:extLst>
          </p:cNvPr>
          <p:cNvSpPr>
            <a:spLocks noGrp="1"/>
          </p:cNvSpPr>
          <p:nvPr/>
        </p:nvSpPr>
        <p:spPr>
          <a:xfrm>
            <a:off x="7162800" y="3702229"/>
            <a:ext cx="4095750" cy="361950"/>
          </a:xfrm>
          <a:prstGeom prst="rect">
            <a:avLst/>
          </a:prstGeom>
          <a:noFill/>
          <a:ln w="0">
            <a:noFill/>
          </a:ln>
        </p:spPr>
        <p:txBody>
          <a:bodyPr wrap="square" lIns="0" tIns="0" rIns="0" bIns="0" anchor="t">
            <a:normAutofit/>
          </a:bodyPr>
          <a:lstStyle/>
          <a:p>
            <a:pPr algn="l">
              <a:lnSpc>
                <a:spcPct val="108000"/>
              </a:lnSpc>
              <a:buNone/>
              <a:defRPr sz="1800" b="1">
                <a:solidFill>
                  <a:srgbClr val="F4F5F1"/>
                </a:solidFill>
                <a:latin typeface="BIZ UDPGothic"/>
                <a:ea typeface="BIZ UDPGothic"/>
                <a:cs typeface="BIZ UDPGothic"/>
              </a:defRPr>
            </a:pPr>
            <a:r>
              <a:rPr sz="1800" b="1">
                <a:solidFill>
                  <a:srgbClr val="F4F5F1"/>
                </a:solidFill>
                <a:latin typeface="BIZ UDPGothic"/>
                <a:ea typeface="BIZ UDPGothic"/>
                <a:cs typeface="BIZ UDPGothic"/>
              </a:rPr>
              <a:t>目的・宿泊の要否</a:t>
            </a:r>
          </a:p>
        </p:txBody>
      </p:sp>
      <p:sp>
        <p:nvSpPr>
          <p:cNvPr id="20" name="正方形/長方形 19">
            <a:extLst>
              <a:ext uri="{FF2B5EF4-FFF2-40B4-BE49-F238E27FC236}">
                <a16:creationId xmlns:a16="http://schemas.microsoft.com/office/drawing/2014/main" id="{C4317D8C-8A7A-43F1-8BC3-7D5B9E912E62}"/>
              </a:ext>
            </a:extLst>
          </p:cNvPr>
          <p:cNvSpPr>
            <a:spLocks noGrp="1"/>
          </p:cNvSpPr>
          <p:nvPr/>
        </p:nvSpPr>
        <p:spPr>
          <a:xfrm>
            <a:off x="7465423" y="4034243"/>
            <a:ext cx="10477500" cy="381000"/>
          </a:xfrm>
          <a:prstGeom prst="rect">
            <a:avLst/>
          </a:prstGeom>
          <a:noFill/>
          <a:ln w="0">
            <a:noFill/>
          </a:ln>
        </p:spPr>
        <p:txBody>
          <a:bodyPr wrap="square" lIns="0" tIns="0" rIns="0" bIns="0" anchor="t">
            <a:normAutofit/>
          </a:bodyPr>
          <a:lstStyle/>
          <a:p>
            <a:pPr algn="l">
              <a:lnSpc>
                <a:spcPct val="108000"/>
              </a:lnSpc>
              <a:buNone/>
              <a:defRPr sz="1650" b="0">
                <a:solidFill>
                  <a:srgbClr val="A9B8C3"/>
                </a:solidFill>
                <a:latin typeface="BIZ UDPGothic"/>
                <a:ea typeface="BIZ UDPGothic"/>
                <a:cs typeface="BIZ UDPGothic"/>
              </a:defRPr>
            </a:pPr>
            <a:r>
              <a:rPr sz="1650" b="0" dirty="0" err="1">
                <a:solidFill>
                  <a:srgbClr val="A9B8C3"/>
                </a:solidFill>
                <a:latin typeface="BIZ UDPGothic"/>
                <a:ea typeface="BIZ UDPGothic"/>
                <a:cs typeface="BIZ UDPGothic"/>
              </a:rPr>
              <a:t>不足する条件を対話でそろえ、計画作成へつなぐ</a:t>
            </a:r>
            <a:endParaRPr sz="1650" b="0" dirty="0">
              <a:solidFill>
                <a:srgbClr val="A9B8C3"/>
              </a:solidFill>
              <a:latin typeface="BIZ UDPGothic"/>
              <a:ea typeface="BIZ UDPGothic"/>
              <a:cs typeface="BIZ UDPGothic"/>
            </a:endParaRPr>
          </a:p>
        </p:txBody>
      </p:sp>
      <p:pic>
        <p:nvPicPr>
          <p:cNvPr id="22" name="図 21">
            <a:extLst>
              <a:ext uri="{FF2B5EF4-FFF2-40B4-BE49-F238E27FC236}">
                <a16:creationId xmlns:a16="http://schemas.microsoft.com/office/drawing/2014/main" id="{46FC1603-6AC6-1D0E-B029-F210F60F8A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039" y="4508810"/>
            <a:ext cx="3945921" cy="2254377"/>
          </a:xfrm>
          <a:prstGeom prst="rect">
            <a:avLst/>
          </a:prstGeom>
        </p:spPr>
      </p:pic>
      <p:pic>
        <p:nvPicPr>
          <p:cNvPr id="23" name="図 22">
            <a:extLst>
              <a:ext uri="{FF2B5EF4-FFF2-40B4-BE49-F238E27FC236}">
                <a16:creationId xmlns:a16="http://schemas.microsoft.com/office/drawing/2014/main" id="{E98ACAF3-AA47-0E1E-B2FF-8BF2696F10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87" y="4517694"/>
            <a:ext cx="3945923" cy="2254379"/>
          </a:xfrm>
          <a:prstGeom prst="rect">
            <a:avLst/>
          </a:prstGeom>
        </p:spPr>
      </p:pic>
      <p:pic>
        <p:nvPicPr>
          <p:cNvPr id="25" name="図 24">
            <a:extLst>
              <a:ext uri="{FF2B5EF4-FFF2-40B4-BE49-F238E27FC236}">
                <a16:creationId xmlns:a16="http://schemas.microsoft.com/office/drawing/2014/main" id="{A6AEFFDD-A8FE-05A7-74DB-FD12D1518A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3590" y="4508810"/>
            <a:ext cx="3945923" cy="2254379"/>
          </a:xfrm>
          <a:prstGeom prst="rect">
            <a:avLst/>
          </a:prstGeom>
        </p:spPr>
      </p:pic>
    </p:spTree>
    <p:extLst>
      <p:ext uri="{BB962C8B-B14F-4D97-AF65-F5344CB8AC3E}">
        <p14:creationId xmlns:p14="http://schemas.microsoft.com/office/powerpoint/2010/main" val="66033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62924CB5-F4D5-479A-8E56-844396908D4B}"/>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A589B3CE-81C0-48E3-BE1B-C81AA1E65A6C}"/>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信頼性を支える、AIとプログラムの役割分担</a:t>
            </a:r>
          </a:p>
        </p:txBody>
      </p:sp>
      <p:sp>
        <p:nvSpPr>
          <p:cNvPr id="3" name="正方形/長方形 2">
            <a:extLst>
              <a:ext uri="{FF2B5EF4-FFF2-40B4-BE49-F238E27FC236}">
                <a16:creationId xmlns:a16="http://schemas.microsoft.com/office/drawing/2014/main" id="{EF97965E-BEBB-47AA-AF39-9C0D0380B53D}"/>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D6C1BB58-B996-48D0-B9A0-A13EA3FF27CB}"/>
              </a:ext>
            </a:extLst>
          </p:cNvPr>
          <p:cNvSpPr>
            <a:spLocks noGrp="1"/>
          </p:cNvSpPr>
          <p:nvPr/>
        </p:nvSpPr>
        <p:spPr>
          <a:xfrm>
            <a:off x="685800" y="1593666"/>
            <a:ext cx="4762500" cy="323850"/>
          </a:xfrm>
          <a:prstGeom prst="rect">
            <a:avLst/>
          </a:prstGeom>
          <a:noFill/>
          <a:ln w="0">
            <a:noFill/>
          </a:ln>
        </p:spPr>
        <p:txBody>
          <a:bodyPr wrap="square" lIns="0" tIns="0" rIns="0" bIns="0" anchor="t">
            <a:normAutofit/>
          </a:bodyPr>
          <a:lstStyle/>
          <a:p>
            <a:pPr algn="l">
              <a:lnSpc>
                <a:spcPct val="108000"/>
              </a:lnSpc>
              <a:buNone/>
              <a:defRPr sz="1800" b="1">
                <a:solidFill>
                  <a:srgbClr val="7DE0CC"/>
                </a:solidFill>
                <a:latin typeface="BIZ UDPGothic"/>
                <a:ea typeface="BIZ UDPGothic"/>
                <a:cs typeface="BIZ UDPGothic"/>
              </a:defRPr>
            </a:pPr>
            <a:r>
              <a:rPr sz="1800" b="1">
                <a:solidFill>
                  <a:srgbClr val="7DE0CC"/>
                </a:solidFill>
                <a:latin typeface="BIZ UDPGothic"/>
                <a:ea typeface="BIZ UDPGothic"/>
                <a:cs typeface="BIZ UDPGothic"/>
              </a:rPr>
              <a:t>AI：資料を読み、該当箇所を示す</a:t>
            </a:r>
          </a:p>
        </p:txBody>
      </p:sp>
      <p:sp>
        <p:nvSpPr>
          <p:cNvPr id="5" name="正方形/長方形 4">
            <a:extLst>
              <a:ext uri="{FF2B5EF4-FFF2-40B4-BE49-F238E27FC236}">
                <a16:creationId xmlns:a16="http://schemas.microsoft.com/office/drawing/2014/main" id="{33F486DB-8E4B-48FD-B91B-45D2CF175F0A}"/>
              </a:ext>
            </a:extLst>
          </p:cNvPr>
          <p:cNvSpPr>
            <a:spLocks noGrp="1"/>
          </p:cNvSpPr>
          <p:nvPr/>
        </p:nvSpPr>
        <p:spPr>
          <a:xfrm>
            <a:off x="685800" y="2088966"/>
            <a:ext cx="47625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旅費規程PDF → 該当箇所・ページを提示</a:t>
            </a:r>
          </a:p>
        </p:txBody>
      </p:sp>
      <p:sp>
        <p:nvSpPr>
          <p:cNvPr id="6" name="正方形/長方形 5">
            <a:extLst>
              <a:ext uri="{FF2B5EF4-FFF2-40B4-BE49-F238E27FC236}">
                <a16:creationId xmlns:a16="http://schemas.microsoft.com/office/drawing/2014/main" id="{0E916D0E-E635-44E5-AEA6-DF1182BD3DC2}"/>
              </a:ext>
            </a:extLst>
          </p:cNvPr>
          <p:cNvSpPr>
            <a:spLocks noGrp="1"/>
          </p:cNvSpPr>
          <p:nvPr/>
        </p:nvSpPr>
        <p:spPr>
          <a:xfrm>
            <a:off x="685800" y="2565216"/>
            <a:ext cx="47625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資料にない条件 → 推測せず要確認</a:t>
            </a:r>
          </a:p>
        </p:txBody>
      </p:sp>
      <p:sp>
        <p:nvSpPr>
          <p:cNvPr id="7" name="正方形/長方形 6">
            <a:extLst>
              <a:ext uri="{FF2B5EF4-FFF2-40B4-BE49-F238E27FC236}">
                <a16:creationId xmlns:a16="http://schemas.microsoft.com/office/drawing/2014/main" id="{49128965-4952-4039-9651-55B935E758C6}"/>
              </a:ext>
            </a:extLst>
          </p:cNvPr>
          <p:cNvSpPr>
            <a:spLocks noGrp="1"/>
          </p:cNvSpPr>
          <p:nvPr/>
        </p:nvSpPr>
        <p:spPr>
          <a:xfrm>
            <a:off x="685800" y="3098616"/>
            <a:ext cx="4953000" cy="9525"/>
          </a:xfrm>
          <a:prstGeom prst="rect">
            <a:avLst/>
          </a:prstGeom>
          <a:solidFill>
            <a:srgbClr val="304454"/>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BD0C8074-9D31-48B2-B95A-1410CE5C3FDE}"/>
              </a:ext>
            </a:extLst>
          </p:cNvPr>
          <p:cNvSpPr>
            <a:spLocks noGrp="1"/>
          </p:cNvSpPr>
          <p:nvPr/>
        </p:nvSpPr>
        <p:spPr>
          <a:xfrm>
            <a:off x="685800" y="3403416"/>
            <a:ext cx="4762500" cy="323850"/>
          </a:xfrm>
          <a:prstGeom prst="rect">
            <a:avLst/>
          </a:prstGeom>
          <a:noFill/>
          <a:ln w="0">
            <a:noFill/>
          </a:ln>
        </p:spPr>
        <p:txBody>
          <a:bodyPr wrap="square" lIns="0" tIns="0" rIns="0" bIns="0" anchor="t">
            <a:normAutofit/>
          </a:bodyPr>
          <a:lstStyle/>
          <a:p>
            <a:pPr algn="l">
              <a:lnSpc>
                <a:spcPct val="108000"/>
              </a:lnSpc>
              <a:buNone/>
              <a:defRPr sz="1800" b="1">
                <a:solidFill>
                  <a:srgbClr val="83B8F4"/>
                </a:solidFill>
                <a:latin typeface="BIZ UDPGothic"/>
                <a:ea typeface="BIZ UDPGothic"/>
                <a:cs typeface="BIZ UDPGothic"/>
              </a:defRPr>
            </a:pPr>
            <a:r>
              <a:rPr sz="1800" b="1">
                <a:solidFill>
                  <a:srgbClr val="83B8F4"/>
                </a:solidFill>
                <a:latin typeface="BIZ UDPGothic"/>
                <a:ea typeface="BIZ UDPGothic"/>
                <a:cs typeface="BIZ UDPGothic"/>
              </a:rPr>
              <a:t>プログラム：金額と行程を計算する</a:t>
            </a:r>
          </a:p>
        </p:txBody>
      </p:sp>
      <p:sp>
        <p:nvSpPr>
          <p:cNvPr id="9" name="正方形/長方形 8">
            <a:extLst>
              <a:ext uri="{FF2B5EF4-FFF2-40B4-BE49-F238E27FC236}">
                <a16:creationId xmlns:a16="http://schemas.microsoft.com/office/drawing/2014/main" id="{F3F21785-9780-4753-AB05-58C6B03E96C2}"/>
              </a:ext>
            </a:extLst>
          </p:cNvPr>
          <p:cNvSpPr>
            <a:spLocks noGrp="1"/>
          </p:cNvSpPr>
          <p:nvPr/>
        </p:nvSpPr>
        <p:spPr>
          <a:xfrm>
            <a:off x="685800" y="3898716"/>
            <a:ext cx="47625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合算・時間比較・入力条件の検証</a:t>
            </a:r>
          </a:p>
        </p:txBody>
      </p:sp>
      <p:sp>
        <p:nvSpPr>
          <p:cNvPr id="10" name="正方形/長方形 9">
            <a:extLst>
              <a:ext uri="{FF2B5EF4-FFF2-40B4-BE49-F238E27FC236}">
                <a16:creationId xmlns:a16="http://schemas.microsoft.com/office/drawing/2014/main" id="{3B6259DA-B3F3-4F52-ADC6-E9F1C0A98617}"/>
              </a:ext>
            </a:extLst>
          </p:cNvPr>
          <p:cNvSpPr>
            <a:spLocks noGrp="1"/>
          </p:cNvSpPr>
          <p:nvPr/>
        </p:nvSpPr>
        <p:spPr>
          <a:xfrm>
            <a:off x="685800" y="4374966"/>
            <a:ext cx="47625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結果は同じ入力から再計算できる</a:t>
            </a:r>
          </a:p>
        </p:txBody>
      </p:sp>
      <p:sp>
        <p:nvSpPr>
          <p:cNvPr id="11" name="正方形/長方形 10">
            <a:extLst>
              <a:ext uri="{FF2B5EF4-FFF2-40B4-BE49-F238E27FC236}">
                <a16:creationId xmlns:a16="http://schemas.microsoft.com/office/drawing/2014/main" id="{D52F6CEB-C0F6-4C3D-9813-974F60958687}"/>
              </a:ext>
            </a:extLst>
          </p:cNvPr>
          <p:cNvSpPr>
            <a:spLocks noGrp="1"/>
          </p:cNvSpPr>
          <p:nvPr/>
        </p:nvSpPr>
        <p:spPr>
          <a:xfrm>
            <a:off x="6343650" y="1784166"/>
            <a:ext cx="9525" cy="3152775"/>
          </a:xfrm>
          <a:prstGeom prst="rect">
            <a:avLst/>
          </a:prstGeom>
          <a:solidFill>
            <a:srgbClr val="304454"/>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B5EEB470-FBAF-4DF0-85A5-0D7DAA5B7D02}"/>
              </a:ext>
            </a:extLst>
          </p:cNvPr>
          <p:cNvSpPr>
            <a:spLocks noGrp="1"/>
          </p:cNvSpPr>
          <p:nvPr/>
        </p:nvSpPr>
        <p:spPr>
          <a:xfrm>
            <a:off x="6819900" y="1841316"/>
            <a:ext cx="4191000" cy="266700"/>
          </a:xfrm>
          <a:prstGeom prst="rect">
            <a:avLst/>
          </a:prstGeom>
          <a:noFill/>
          <a:ln w="0">
            <a:noFill/>
          </a:ln>
        </p:spPr>
        <p:txBody>
          <a:bodyPr wrap="square" lIns="0" tIns="0" rIns="0" bIns="0" anchor="t">
            <a:normAutofit/>
          </a:bodyPr>
          <a:lstStyle/>
          <a:p>
            <a:pPr algn="l">
              <a:lnSpc>
                <a:spcPct val="108000"/>
              </a:lnSpc>
              <a:buNone/>
              <a:defRPr sz="1350" b="1">
                <a:solidFill>
                  <a:srgbClr val="F1C27D"/>
                </a:solidFill>
                <a:latin typeface="BIZ UDPGothic"/>
                <a:ea typeface="BIZ UDPGothic"/>
                <a:cs typeface="BIZ UDPGothic"/>
              </a:defRPr>
            </a:pPr>
            <a:r>
              <a:rPr sz="1350" b="1">
                <a:solidFill>
                  <a:srgbClr val="F1C27D"/>
                </a:solidFill>
                <a:latin typeface="BIZ UDPGothic"/>
                <a:ea typeface="BIZ UDPGothic"/>
                <a:cs typeface="BIZ UDPGothic"/>
              </a:rPr>
              <a:t>出力に含めるもの</a:t>
            </a:r>
          </a:p>
        </p:txBody>
      </p:sp>
      <p:sp>
        <p:nvSpPr>
          <p:cNvPr id="13" name="正方形/長方形 12">
            <a:extLst>
              <a:ext uri="{FF2B5EF4-FFF2-40B4-BE49-F238E27FC236}">
                <a16:creationId xmlns:a16="http://schemas.microsoft.com/office/drawing/2014/main" id="{7BCDB40C-F7AE-4C76-902E-5AACDBD89C9A}"/>
              </a:ext>
            </a:extLst>
          </p:cNvPr>
          <p:cNvSpPr>
            <a:spLocks noGrp="1"/>
          </p:cNvSpPr>
          <p:nvPr/>
        </p:nvSpPr>
        <p:spPr>
          <a:xfrm>
            <a:off x="6819900" y="2393766"/>
            <a:ext cx="4095750" cy="542925"/>
          </a:xfrm>
          <a:prstGeom prst="rect">
            <a:avLst/>
          </a:prstGeom>
          <a:noFill/>
          <a:ln w="0">
            <a:noFill/>
          </a:ln>
        </p:spPr>
        <p:txBody>
          <a:bodyPr wrap="square" lIns="0" tIns="0" rIns="0" bIns="0" anchor="t">
            <a:normAutofit/>
          </a:bodyPr>
          <a:lstStyle/>
          <a:p>
            <a:pPr algn="l">
              <a:lnSpc>
                <a:spcPct val="108000"/>
              </a:lnSpc>
              <a:buNone/>
              <a:defRPr sz="2550" b="1">
                <a:solidFill>
                  <a:srgbClr val="F4F5F1"/>
                </a:solidFill>
                <a:latin typeface="BIZ UDPGothic"/>
                <a:ea typeface="BIZ UDPGothic"/>
                <a:cs typeface="BIZ UDPGothic"/>
              </a:defRPr>
            </a:pPr>
            <a:r>
              <a:rPr sz="2550" b="1">
                <a:solidFill>
                  <a:srgbClr val="F4F5F1"/>
                </a:solidFill>
                <a:latin typeface="BIZ UDPGothic"/>
                <a:ea typeface="BIZ UDPGothic"/>
                <a:cs typeface="BIZ UDPGothic"/>
              </a:rPr>
              <a:t>根拠箇所</a:t>
            </a:r>
          </a:p>
        </p:txBody>
      </p:sp>
      <p:sp>
        <p:nvSpPr>
          <p:cNvPr id="14" name="正方形/長方形 13">
            <a:extLst>
              <a:ext uri="{FF2B5EF4-FFF2-40B4-BE49-F238E27FC236}">
                <a16:creationId xmlns:a16="http://schemas.microsoft.com/office/drawing/2014/main" id="{8525F333-1978-4054-AEBB-3D3A6493D90A}"/>
              </a:ext>
            </a:extLst>
          </p:cNvPr>
          <p:cNvSpPr>
            <a:spLocks noGrp="1"/>
          </p:cNvSpPr>
          <p:nvPr/>
        </p:nvSpPr>
        <p:spPr>
          <a:xfrm>
            <a:off x="6819900" y="2831369"/>
            <a:ext cx="4095750" cy="542925"/>
          </a:xfrm>
          <a:prstGeom prst="rect">
            <a:avLst/>
          </a:prstGeom>
          <a:noFill/>
          <a:ln w="0">
            <a:noFill/>
          </a:ln>
        </p:spPr>
        <p:txBody>
          <a:bodyPr wrap="square" lIns="0" tIns="0" rIns="0" bIns="0" anchor="t">
            <a:normAutofit/>
          </a:bodyPr>
          <a:lstStyle/>
          <a:p>
            <a:pPr algn="l">
              <a:lnSpc>
                <a:spcPct val="108000"/>
              </a:lnSpc>
              <a:buNone/>
              <a:defRPr sz="2250" b="1">
                <a:solidFill>
                  <a:srgbClr val="F4F5F1"/>
                </a:solidFill>
                <a:latin typeface="BIZ UDPGothic"/>
                <a:ea typeface="BIZ UDPGothic"/>
                <a:cs typeface="BIZ UDPGothic"/>
              </a:defRPr>
            </a:pPr>
            <a:r>
              <a:rPr sz="2250" b="1" dirty="0" err="1">
                <a:solidFill>
                  <a:srgbClr val="F4F5F1"/>
                </a:solidFill>
                <a:latin typeface="BIZ UDPGothic"/>
                <a:ea typeface="BIZ UDPGothic"/>
                <a:cs typeface="BIZ UDPGothic"/>
              </a:rPr>
              <a:t>費用・時間の比較</a:t>
            </a:r>
            <a:endParaRPr sz="2250" b="1" dirty="0">
              <a:solidFill>
                <a:srgbClr val="F4F5F1"/>
              </a:solidFill>
              <a:latin typeface="BIZ UDPGothic"/>
              <a:ea typeface="BIZ UDPGothic"/>
              <a:cs typeface="BIZ UDPGothic"/>
            </a:endParaRPr>
          </a:p>
        </p:txBody>
      </p:sp>
      <p:sp>
        <p:nvSpPr>
          <p:cNvPr id="15" name="正方形/長方形 14">
            <a:extLst>
              <a:ext uri="{FF2B5EF4-FFF2-40B4-BE49-F238E27FC236}">
                <a16:creationId xmlns:a16="http://schemas.microsoft.com/office/drawing/2014/main" id="{06DFE56D-5439-4194-BC3C-46A0E752D353}"/>
              </a:ext>
            </a:extLst>
          </p:cNvPr>
          <p:cNvSpPr>
            <a:spLocks noGrp="1"/>
          </p:cNvSpPr>
          <p:nvPr/>
        </p:nvSpPr>
        <p:spPr>
          <a:xfrm>
            <a:off x="6819900" y="3268972"/>
            <a:ext cx="4095750" cy="542925"/>
          </a:xfrm>
          <a:prstGeom prst="rect">
            <a:avLst/>
          </a:prstGeom>
          <a:noFill/>
          <a:ln w="0">
            <a:noFill/>
          </a:ln>
        </p:spPr>
        <p:txBody>
          <a:bodyPr wrap="square" lIns="0" tIns="0" rIns="0" bIns="0" anchor="t">
            <a:normAutofit/>
          </a:bodyPr>
          <a:lstStyle/>
          <a:p>
            <a:pPr algn="l">
              <a:lnSpc>
                <a:spcPct val="108000"/>
              </a:lnSpc>
              <a:buNone/>
              <a:defRPr sz="2550" b="1">
                <a:solidFill>
                  <a:srgbClr val="F4F5F1"/>
                </a:solidFill>
                <a:latin typeface="BIZ UDPGothic"/>
                <a:ea typeface="BIZ UDPGothic"/>
                <a:cs typeface="BIZ UDPGothic"/>
              </a:defRPr>
            </a:pPr>
            <a:r>
              <a:rPr sz="2550" b="1" dirty="0" err="1">
                <a:solidFill>
                  <a:srgbClr val="F4F5F1"/>
                </a:solidFill>
                <a:latin typeface="BIZ UDPGothic"/>
                <a:ea typeface="BIZ UDPGothic"/>
                <a:cs typeface="BIZ UDPGothic"/>
              </a:rPr>
              <a:t>確認ポイント</a:t>
            </a:r>
            <a:endParaRPr sz="2550" b="1" dirty="0">
              <a:solidFill>
                <a:srgbClr val="F4F5F1"/>
              </a:solidFill>
              <a:latin typeface="BIZ UDPGothic"/>
              <a:ea typeface="BIZ UDPGothic"/>
              <a:cs typeface="BIZ UDPGothic"/>
            </a:endParaRPr>
          </a:p>
        </p:txBody>
      </p:sp>
      <p:sp>
        <p:nvSpPr>
          <p:cNvPr id="16" name="角丸四角形 15">
            <a:extLst>
              <a:ext uri="{FF2B5EF4-FFF2-40B4-BE49-F238E27FC236}">
                <a16:creationId xmlns:a16="http://schemas.microsoft.com/office/drawing/2014/main" id="{49AEEB7B-24DA-40C2-8A9D-C76EE65E991C}"/>
              </a:ext>
            </a:extLst>
          </p:cNvPr>
          <p:cNvSpPr>
            <a:spLocks noGrp="1"/>
          </p:cNvSpPr>
          <p:nvPr/>
        </p:nvSpPr>
        <p:spPr>
          <a:xfrm>
            <a:off x="9915525" y="2182997"/>
            <a:ext cx="2190750" cy="1357437"/>
          </a:xfrm>
          <a:prstGeom prst="roundRect">
            <a:avLst>
              <a:gd name="adj" fmla="val 22222"/>
            </a:avLst>
          </a:prstGeom>
          <a:solidFill>
            <a:srgbClr val="192A39"/>
          </a:solidFill>
          <a:ln w="0">
            <a:noFill/>
          </a:ln>
        </p:spPr>
        <p:txBody>
          <a:bodyPr anchor="ctr"/>
          <a:lstStyle/>
          <a:p>
            <a:pPr algn="ctr">
              <a:lnSpc>
                <a:spcPct val="108000"/>
              </a:lnSpc>
              <a:buNone/>
              <a:defRPr sz="1500" b="1">
                <a:solidFill>
                  <a:srgbClr val="F1C27D"/>
                </a:solidFill>
                <a:latin typeface="BIZ UDPGothic"/>
                <a:ea typeface="BIZ UDPGothic"/>
                <a:cs typeface="BIZ UDPGothic"/>
              </a:defRPr>
            </a:pPr>
            <a:r>
              <a:rPr lang="ja-JP" altLang="en-US" b="1">
                <a:solidFill>
                  <a:srgbClr val="F1C27D"/>
                </a:solidFill>
                <a:latin typeface="BIZ UDPGothic"/>
                <a:ea typeface="BIZ UDPGothic"/>
                <a:cs typeface="BIZ UDPGothic"/>
              </a:rPr>
              <a:t>根拠を見て、</a:t>
            </a:r>
          </a:p>
          <a:p>
            <a:pPr algn="ctr">
              <a:lnSpc>
                <a:spcPct val="108000"/>
              </a:lnSpc>
              <a:buNone/>
              <a:defRPr sz="1500" b="1">
                <a:solidFill>
                  <a:srgbClr val="F1C27D"/>
                </a:solidFill>
                <a:latin typeface="BIZ UDPGothic"/>
                <a:ea typeface="BIZ UDPGothic"/>
                <a:cs typeface="BIZ UDPGothic"/>
              </a:defRPr>
            </a:pPr>
            <a:r>
              <a:rPr lang="ja-JP" altLang="en-US" b="1">
                <a:solidFill>
                  <a:srgbClr val="F1C27D"/>
                </a:solidFill>
                <a:latin typeface="BIZ UDPGothic"/>
                <a:ea typeface="BIZ UDPGothic"/>
                <a:cs typeface="BIZ UDPGothic"/>
              </a:rPr>
              <a:t>人が最終確認</a:t>
            </a:r>
          </a:p>
        </p:txBody>
      </p:sp>
      <p:pic>
        <p:nvPicPr>
          <p:cNvPr id="22" name="図 21">
            <a:extLst>
              <a:ext uri="{FF2B5EF4-FFF2-40B4-BE49-F238E27FC236}">
                <a16:creationId xmlns:a16="http://schemas.microsoft.com/office/drawing/2014/main" id="{7562E974-FEAE-88B9-D306-7CDC5E3A5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900" y="3759238"/>
            <a:ext cx="5233579" cy="2990040"/>
          </a:xfrm>
          <a:prstGeom prst="rect">
            <a:avLst/>
          </a:prstGeom>
        </p:spPr>
      </p:pic>
    </p:spTree>
    <p:extLst>
      <p:ext uri="{BB962C8B-B14F-4D97-AF65-F5344CB8AC3E}">
        <p14:creationId xmlns:p14="http://schemas.microsoft.com/office/powerpoint/2010/main" val="1997528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47587003-A024-4B0E-ACA0-C17903127F30}"/>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B83D7124-77DA-41CB-8426-87FFCEB8733A}"/>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比較して選べる、二つの模擬行程</a:t>
            </a:r>
          </a:p>
        </p:txBody>
      </p:sp>
      <p:sp>
        <p:nvSpPr>
          <p:cNvPr id="3" name="正方形/長方形 2">
            <a:extLst>
              <a:ext uri="{FF2B5EF4-FFF2-40B4-BE49-F238E27FC236}">
                <a16:creationId xmlns:a16="http://schemas.microsoft.com/office/drawing/2014/main" id="{9C4DCF85-080F-45E3-A0A2-820594D3210E}"/>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1A0AF0EF-31D3-4D0E-9650-124EF34017D8}"/>
              </a:ext>
            </a:extLst>
          </p:cNvPr>
          <p:cNvSpPr>
            <a:spLocks noGrp="1"/>
          </p:cNvSpPr>
          <p:nvPr/>
        </p:nvSpPr>
        <p:spPr>
          <a:xfrm>
            <a:off x="704850" y="1838325"/>
            <a:ext cx="3667125" cy="304800"/>
          </a:xfrm>
          <a:prstGeom prst="rect">
            <a:avLst/>
          </a:prstGeom>
          <a:noFill/>
          <a:ln w="0">
            <a:noFill/>
          </a:ln>
        </p:spPr>
        <p:txBody>
          <a:bodyPr wrap="square" lIns="0" tIns="0" rIns="0" bIns="0" anchor="t">
            <a:normAutofit/>
          </a:bodyPr>
          <a:lstStyle/>
          <a:p>
            <a:pPr algn="l">
              <a:lnSpc>
                <a:spcPct val="108000"/>
              </a:lnSpc>
              <a:buNone/>
              <a:defRPr sz="1425" b="1">
                <a:solidFill>
                  <a:srgbClr val="A9B8C3"/>
                </a:solidFill>
                <a:latin typeface="BIZ UDPGothic"/>
                <a:ea typeface="BIZ UDPGothic"/>
                <a:cs typeface="BIZ UDPGothic"/>
              </a:defRPr>
            </a:pPr>
            <a:r>
              <a:rPr sz="1425" b="1">
                <a:solidFill>
                  <a:srgbClr val="A9B8C3"/>
                </a:solidFill>
                <a:latin typeface="BIZ UDPGothic"/>
                <a:ea typeface="BIZ UDPGothic"/>
                <a:cs typeface="BIZ UDPGothic"/>
              </a:rPr>
              <a:t>比較する軸</a:t>
            </a:r>
          </a:p>
        </p:txBody>
      </p:sp>
      <p:sp>
        <p:nvSpPr>
          <p:cNvPr id="5" name="正方形/長方形 4">
            <a:extLst>
              <a:ext uri="{FF2B5EF4-FFF2-40B4-BE49-F238E27FC236}">
                <a16:creationId xmlns:a16="http://schemas.microsoft.com/office/drawing/2014/main" id="{B17691C4-9CAF-42ED-99C0-44451A8284DA}"/>
              </a:ext>
            </a:extLst>
          </p:cNvPr>
          <p:cNvSpPr>
            <a:spLocks noGrp="1"/>
          </p:cNvSpPr>
          <p:nvPr/>
        </p:nvSpPr>
        <p:spPr>
          <a:xfrm>
            <a:off x="685800" y="2305050"/>
            <a:ext cx="2533650" cy="342900"/>
          </a:xfrm>
          <a:prstGeom prst="rect">
            <a:avLst/>
          </a:prstGeom>
          <a:noFill/>
          <a:ln w="0">
            <a:noFill/>
          </a:ln>
        </p:spPr>
        <p:txBody>
          <a:bodyPr wrap="square" lIns="0" tIns="0" rIns="0" bIns="0" anchor="t">
            <a:normAutofit/>
          </a:bodyPr>
          <a:lstStyle/>
          <a:p>
            <a:pPr algn="l">
              <a:lnSpc>
                <a:spcPct val="108000"/>
              </a:lnSpc>
              <a:buNone/>
              <a:defRPr sz="1950" b="1">
                <a:solidFill>
                  <a:srgbClr val="7DE0CC"/>
                </a:solidFill>
                <a:latin typeface="BIZ UDPGothic"/>
                <a:ea typeface="BIZ UDPGothic"/>
                <a:cs typeface="BIZ UDPGothic"/>
              </a:defRPr>
            </a:pPr>
            <a:r>
              <a:rPr sz="1950" b="1">
                <a:solidFill>
                  <a:srgbClr val="7DE0CC"/>
                </a:solidFill>
                <a:latin typeface="BIZ UDPGothic"/>
                <a:ea typeface="BIZ UDPGothic"/>
                <a:cs typeface="BIZ UDPGothic"/>
              </a:rPr>
              <a:t>費用</a:t>
            </a:r>
          </a:p>
        </p:txBody>
      </p:sp>
      <p:sp>
        <p:nvSpPr>
          <p:cNvPr id="6" name="正方形/長方形 5">
            <a:extLst>
              <a:ext uri="{FF2B5EF4-FFF2-40B4-BE49-F238E27FC236}">
                <a16:creationId xmlns:a16="http://schemas.microsoft.com/office/drawing/2014/main" id="{5EC84F99-CBE4-4C37-B21A-B8FD45118C60}"/>
              </a:ext>
            </a:extLst>
          </p:cNvPr>
          <p:cNvSpPr>
            <a:spLocks noGrp="1"/>
          </p:cNvSpPr>
          <p:nvPr/>
        </p:nvSpPr>
        <p:spPr>
          <a:xfrm>
            <a:off x="685800" y="2838450"/>
            <a:ext cx="2533650" cy="342900"/>
          </a:xfrm>
          <a:prstGeom prst="rect">
            <a:avLst/>
          </a:prstGeom>
          <a:noFill/>
          <a:ln w="0">
            <a:noFill/>
          </a:ln>
        </p:spPr>
        <p:txBody>
          <a:bodyPr wrap="square" lIns="0" tIns="0" rIns="0" bIns="0" anchor="t">
            <a:normAutofit/>
          </a:bodyPr>
          <a:lstStyle/>
          <a:p>
            <a:pPr algn="l">
              <a:lnSpc>
                <a:spcPct val="108000"/>
              </a:lnSpc>
              <a:buNone/>
              <a:defRPr sz="1950" b="1">
                <a:solidFill>
                  <a:srgbClr val="83B8F4"/>
                </a:solidFill>
                <a:latin typeface="BIZ UDPGothic"/>
                <a:ea typeface="BIZ UDPGothic"/>
                <a:cs typeface="BIZ UDPGothic"/>
              </a:defRPr>
            </a:pPr>
            <a:r>
              <a:rPr sz="1950" b="1">
                <a:solidFill>
                  <a:srgbClr val="83B8F4"/>
                </a:solidFill>
                <a:latin typeface="BIZ UDPGothic"/>
                <a:ea typeface="BIZ UDPGothic"/>
                <a:cs typeface="BIZ UDPGothic"/>
              </a:rPr>
              <a:t>移動時間</a:t>
            </a:r>
          </a:p>
        </p:txBody>
      </p:sp>
      <p:sp>
        <p:nvSpPr>
          <p:cNvPr id="7" name="正方形/長方形 6">
            <a:extLst>
              <a:ext uri="{FF2B5EF4-FFF2-40B4-BE49-F238E27FC236}">
                <a16:creationId xmlns:a16="http://schemas.microsoft.com/office/drawing/2014/main" id="{88DA0334-B23D-4E68-BB7A-9699E35B9DD1}"/>
              </a:ext>
            </a:extLst>
          </p:cNvPr>
          <p:cNvSpPr>
            <a:spLocks noGrp="1"/>
          </p:cNvSpPr>
          <p:nvPr/>
        </p:nvSpPr>
        <p:spPr>
          <a:xfrm>
            <a:off x="685800" y="3676650"/>
            <a:ext cx="3905250" cy="647700"/>
          </a:xfrm>
          <a:prstGeom prst="rect">
            <a:avLst/>
          </a:prstGeom>
          <a:noFill/>
          <a:ln w="0">
            <a:noFill/>
          </a:ln>
        </p:spPr>
        <p:txBody>
          <a:bodyPr wrap="square" lIns="0" tIns="0" rIns="0" bIns="0" anchor="t">
            <a:normAutofit/>
          </a:bodyPr>
          <a:lstStyle/>
          <a:p>
            <a:pPr algn="l">
              <a:lnSpc>
                <a:spcPct val="108000"/>
              </a:lnSpc>
              <a:buNone/>
              <a:defRPr sz="2550" b="1">
                <a:solidFill>
                  <a:srgbClr val="F4F5F1"/>
                </a:solidFill>
                <a:latin typeface="BIZ UDPGothic"/>
                <a:ea typeface="BIZ UDPGothic"/>
                <a:cs typeface="BIZ UDPGothic"/>
              </a:defRPr>
            </a:pPr>
            <a:r>
              <a:rPr sz="2550" b="1">
                <a:solidFill>
                  <a:srgbClr val="F4F5F1"/>
                </a:solidFill>
                <a:latin typeface="BIZ UDPGothic"/>
                <a:ea typeface="BIZ UDPGothic"/>
                <a:cs typeface="BIZ UDPGothic"/>
              </a:rPr>
              <a:t>速達プラン</a:t>
            </a:r>
          </a:p>
        </p:txBody>
      </p:sp>
      <p:sp>
        <p:nvSpPr>
          <p:cNvPr id="8" name="正方形/長方形 7">
            <a:extLst>
              <a:ext uri="{FF2B5EF4-FFF2-40B4-BE49-F238E27FC236}">
                <a16:creationId xmlns:a16="http://schemas.microsoft.com/office/drawing/2014/main" id="{BCC87899-146C-4923-82CE-290D5B77ABEC}"/>
              </a:ext>
            </a:extLst>
          </p:cNvPr>
          <p:cNvSpPr>
            <a:spLocks noGrp="1"/>
          </p:cNvSpPr>
          <p:nvPr/>
        </p:nvSpPr>
        <p:spPr>
          <a:xfrm>
            <a:off x="685800" y="4333875"/>
            <a:ext cx="3905250" cy="314325"/>
          </a:xfrm>
          <a:prstGeom prst="rect">
            <a:avLst/>
          </a:prstGeom>
          <a:noFill/>
          <a:ln w="0">
            <a:noFill/>
          </a:ln>
        </p:spPr>
        <p:txBody>
          <a:bodyPr wrap="square" lIns="0" tIns="0" rIns="0" bIns="0" anchor="t">
            <a:normAutofit/>
          </a:bodyPr>
          <a:lstStyle/>
          <a:p>
            <a:pPr algn="l">
              <a:lnSpc>
                <a:spcPct val="108000"/>
              </a:lnSpc>
              <a:buNone/>
              <a:defRPr sz="1425" b="0">
                <a:solidFill>
                  <a:srgbClr val="A9B8C3"/>
                </a:solidFill>
                <a:latin typeface="BIZ UDPGothic"/>
                <a:ea typeface="BIZ UDPGothic"/>
                <a:cs typeface="BIZ UDPGothic"/>
              </a:defRPr>
            </a:pPr>
            <a:r>
              <a:rPr sz="1425" b="0">
                <a:solidFill>
                  <a:srgbClr val="A9B8C3"/>
                </a:solidFill>
                <a:latin typeface="BIZ UDPGothic"/>
                <a:ea typeface="BIZ UDPGothic"/>
                <a:cs typeface="BIZ UDPGothic"/>
              </a:rPr>
              <a:t>模擬の時刻・費用で比較</a:t>
            </a:r>
          </a:p>
        </p:txBody>
      </p:sp>
      <p:sp>
        <p:nvSpPr>
          <p:cNvPr id="9" name="正方形/長方形 8">
            <a:extLst>
              <a:ext uri="{FF2B5EF4-FFF2-40B4-BE49-F238E27FC236}">
                <a16:creationId xmlns:a16="http://schemas.microsoft.com/office/drawing/2014/main" id="{C781F66E-F180-46F5-B68E-3925001F4CE4}"/>
              </a:ext>
            </a:extLst>
          </p:cNvPr>
          <p:cNvSpPr>
            <a:spLocks noGrp="1"/>
          </p:cNvSpPr>
          <p:nvPr/>
        </p:nvSpPr>
        <p:spPr>
          <a:xfrm>
            <a:off x="704850" y="4867275"/>
            <a:ext cx="4305300" cy="19050"/>
          </a:xfrm>
          <a:prstGeom prst="rect">
            <a:avLst/>
          </a:prstGeom>
          <a:solidFill>
            <a:srgbClr val="304454"/>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1A554EFF-FB8D-45CC-9C4B-83F8DA3CC56F}"/>
              </a:ext>
            </a:extLst>
          </p:cNvPr>
          <p:cNvSpPr>
            <a:spLocks noGrp="1"/>
          </p:cNvSpPr>
          <p:nvPr/>
        </p:nvSpPr>
        <p:spPr>
          <a:xfrm>
            <a:off x="685800" y="5095875"/>
            <a:ext cx="3905250" cy="361950"/>
          </a:xfrm>
          <a:prstGeom prst="rect">
            <a:avLst/>
          </a:prstGeom>
          <a:noFill/>
          <a:ln w="0">
            <a:noFill/>
          </a:ln>
        </p:spPr>
        <p:txBody>
          <a:bodyPr wrap="square" lIns="0" tIns="0" rIns="0" bIns="0" anchor="t">
            <a:normAutofit/>
          </a:bodyPr>
          <a:lstStyle/>
          <a:p>
            <a:pPr algn="l">
              <a:lnSpc>
                <a:spcPct val="108000"/>
              </a:lnSpc>
              <a:buNone/>
              <a:defRPr sz="2175" b="1">
                <a:solidFill>
                  <a:srgbClr val="F4F5F1"/>
                </a:solidFill>
                <a:latin typeface="BIZ UDPGothic"/>
                <a:ea typeface="BIZ UDPGothic"/>
                <a:cs typeface="BIZ UDPGothic"/>
              </a:defRPr>
            </a:pPr>
            <a:r>
              <a:rPr sz="2175" b="1">
                <a:solidFill>
                  <a:srgbClr val="F4F5F1"/>
                </a:solidFill>
                <a:latin typeface="BIZ UDPGothic"/>
                <a:ea typeface="BIZ UDPGothic"/>
                <a:cs typeface="BIZ UDPGothic"/>
              </a:rPr>
              <a:t>費用重視プラン</a:t>
            </a:r>
          </a:p>
        </p:txBody>
      </p:sp>
      <p:sp>
        <p:nvSpPr>
          <p:cNvPr id="11" name="正方形/長方形 10">
            <a:extLst>
              <a:ext uri="{FF2B5EF4-FFF2-40B4-BE49-F238E27FC236}">
                <a16:creationId xmlns:a16="http://schemas.microsoft.com/office/drawing/2014/main" id="{5620F004-B36A-496C-A942-93C89DCDD03B}"/>
              </a:ext>
            </a:extLst>
          </p:cNvPr>
          <p:cNvSpPr>
            <a:spLocks noGrp="1"/>
          </p:cNvSpPr>
          <p:nvPr/>
        </p:nvSpPr>
        <p:spPr>
          <a:xfrm>
            <a:off x="5734050" y="2133600"/>
            <a:ext cx="5219700" cy="400050"/>
          </a:xfrm>
          <a:prstGeom prst="rect">
            <a:avLst/>
          </a:prstGeom>
          <a:noFill/>
          <a:ln w="0">
            <a:noFill/>
          </a:ln>
        </p:spPr>
        <p:txBody>
          <a:bodyPr wrap="square" lIns="0" tIns="0" rIns="0" bIns="0" anchor="t">
            <a:normAutofit/>
          </a:bodyPr>
          <a:lstStyle/>
          <a:p>
            <a:pPr algn="l">
              <a:lnSpc>
                <a:spcPct val="108000"/>
              </a:lnSpc>
              <a:buNone/>
              <a:defRPr sz="1725" b="1">
                <a:solidFill>
                  <a:srgbClr val="F4F5F1"/>
                </a:solidFill>
                <a:latin typeface="BIZ UDPGothic"/>
                <a:ea typeface="BIZ UDPGothic"/>
                <a:cs typeface="BIZ UDPGothic"/>
              </a:defRPr>
            </a:pPr>
            <a:r>
              <a:rPr sz="1725" b="1">
                <a:solidFill>
                  <a:srgbClr val="F4F5F1"/>
                </a:solidFill>
                <a:latin typeface="BIZ UDPGothic"/>
                <a:ea typeface="BIZ UDPGothic"/>
                <a:cs typeface="BIZ UDPGothic"/>
              </a:rPr>
              <a:t>速さと費用の優先度を見て選ぶ</a:t>
            </a:r>
          </a:p>
        </p:txBody>
      </p:sp>
      <p:sp>
        <p:nvSpPr>
          <p:cNvPr id="12" name="正方形/長方形 11">
            <a:extLst>
              <a:ext uri="{FF2B5EF4-FFF2-40B4-BE49-F238E27FC236}">
                <a16:creationId xmlns:a16="http://schemas.microsoft.com/office/drawing/2014/main" id="{7808202B-DB65-4BC0-AA36-96B3ACEEC48A}"/>
              </a:ext>
            </a:extLst>
          </p:cNvPr>
          <p:cNvSpPr>
            <a:spLocks noGrp="1"/>
          </p:cNvSpPr>
          <p:nvPr/>
        </p:nvSpPr>
        <p:spPr>
          <a:xfrm>
            <a:off x="6000750" y="3200400"/>
            <a:ext cx="4267200" cy="38100"/>
          </a:xfrm>
          <a:prstGeom prst="rect">
            <a:avLst/>
          </a:prstGeom>
          <a:solidFill>
            <a:srgbClr val="304454"/>
          </a:solidFill>
          <a:ln w="0">
            <a:noFill/>
          </a:ln>
        </p:spPr>
        <p:txBody>
          <a:bodyPr/>
          <a:lstStyle/>
          <a:p>
            <a:endParaRPr lang="ja-JP" altLang="en-US"/>
          </a:p>
        </p:txBody>
      </p:sp>
      <p:sp>
        <p:nvSpPr>
          <p:cNvPr id="13" name="円/楕円 12">
            <a:extLst>
              <a:ext uri="{FF2B5EF4-FFF2-40B4-BE49-F238E27FC236}">
                <a16:creationId xmlns:a16="http://schemas.microsoft.com/office/drawing/2014/main" id="{2E999C96-5008-41C2-B671-2F7BBC346A79}"/>
              </a:ext>
            </a:extLst>
          </p:cNvPr>
          <p:cNvSpPr>
            <a:spLocks noGrp="1"/>
          </p:cNvSpPr>
          <p:nvPr/>
        </p:nvSpPr>
        <p:spPr>
          <a:xfrm>
            <a:off x="6067425" y="3067050"/>
            <a:ext cx="295275" cy="295275"/>
          </a:xfrm>
          <a:prstGeom prst="ellipse">
            <a:avLst/>
          </a:prstGeom>
          <a:solidFill>
            <a:srgbClr val="7DE0CC"/>
          </a:solidFill>
          <a:ln w="0">
            <a:noFill/>
          </a:ln>
        </p:spPr>
        <p:txBody>
          <a:bodyPr/>
          <a:lstStyle/>
          <a:p>
            <a:endParaRPr lang="ja-JP" altLang="en-US"/>
          </a:p>
        </p:txBody>
      </p:sp>
      <p:sp>
        <p:nvSpPr>
          <p:cNvPr id="14" name="円/楕円 13">
            <a:extLst>
              <a:ext uri="{FF2B5EF4-FFF2-40B4-BE49-F238E27FC236}">
                <a16:creationId xmlns:a16="http://schemas.microsoft.com/office/drawing/2014/main" id="{97004746-F1CA-4150-846C-CC989F699C93}"/>
              </a:ext>
            </a:extLst>
          </p:cNvPr>
          <p:cNvSpPr>
            <a:spLocks noGrp="1"/>
          </p:cNvSpPr>
          <p:nvPr/>
        </p:nvSpPr>
        <p:spPr>
          <a:xfrm>
            <a:off x="9848850" y="3067050"/>
            <a:ext cx="295275" cy="295275"/>
          </a:xfrm>
          <a:prstGeom prst="ellipse">
            <a:avLst/>
          </a:prstGeom>
          <a:solidFill>
            <a:srgbClr val="83B8F4"/>
          </a:solidFill>
          <a:ln w="0">
            <a:noFill/>
          </a:ln>
        </p:spPr>
        <p:txBody>
          <a:bodyPr/>
          <a:lstStyle/>
          <a:p>
            <a:endParaRPr lang="ja-JP" altLang="en-US"/>
          </a:p>
        </p:txBody>
      </p:sp>
      <p:sp>
        <p:nvSpPr>
          <p:cNvPr id="15" name="正方形/長方形 14">
            <a:extLst>
              <a:ext uri="{FF2B5EF4-FFF2-40B4-BE49-F238E27FC236}">
                <a16:creationId xmlns:a16="http://schemas.microsoft.com/office/drawing/2014/main" id="{7A0D9969-CD1B-4DC3-BE68-4CD1BCA843F8}"/>
              </a:ext>
            </a:extLst>
          </p:cNvPr>
          <p:cNvSpPr>
            <a:spLocks noGrp="1"/>
          </p:cNvSpPr>
          <p:nvPr/>
        </p:nvSpPr>
        <p:spPr>
          <a:xfrm>
            <a:off x="5753100" y="3600450"/>
            <a:ext cx="1714500" cy="295275"/>
          </a:xfrm>
          <a:prstGeom prst="rect">
            <a:avLst/>
          </a:prstGeom>
          <a:noFill/>
          <a:ln w="0">
            <a:noFill/>
          </a:ln>
        </p:spPr>
        <p:txBody>
          <a:bodyPr wrap="square" lIns="0" tIns="0" rIns="0" bIns="0" anchor="t">
            <a:normAutofit/>
          </a:bodyPr>
          <a:lstStyle/>
          <a:p>
            <a:pPr algn="l">
              <a:lnSpc>
                <a:spcPct val="108000"/>
              </a:lnSpc>
              <a:buNone/>
              <a:defRPr sz="1500" b="1">
                <a:solidFill>
                  <a:srgbClr val="7DE0CC"/>
                </a:solidFill>
                <a:latin typeface="BIZ UDPGothic"/>
                <a:ea typeface="BIZ UDPGothic"/>
                <a:cs typeface="BIZ UDPGothic"/>
              </a:defRPr>
            </a:pPr>
            <a:r>
              <a:rPr sz="1500" b="1">
                <a:solidFill>
                  <a:srgbClr val="7DE0CC"/>
                </a:solidFill>
                <a:latin typeface="BIZ UDPGothic"/>
                <a:ea typeface="BIZ UDPGothic"/>
                <a:cs typeface="BIZ UDPGothic"/>
              </a:rPr>
              <a:t>速達</a:t>
            </a:r>
          </a:p>
        </p:txBody>
      </p:sp>
      <p:sp>
        <p:nvSpPr>
          <p:cNvPr id="16" name="正方形/長方形 15">
            <a:extLst>
              <a:ext uri="{FF2B5EF4-FFF2-40B4-BE49-F238E27FC236}">
                <a16:creationId xmlns:a16="http://schemas.microsoft.com/office/drawing/2014/main" id="{85C4CC41-53C4-479B-ADE1-3153EE4D17DF}"/>
              </a:ext>
            </a:extLst>
          </p:cNvPr>
          <p:cNvSpPr>
            <a:spLocks noGrp="1"/>
          </p:cNvSpPr>
          <p:nvPr/>
        </p:nvSpPr>
        <p:spPr>
          <a:xfrm>
            <a:off x="8972550" y="3600450"/>
            <a:ext cx="1952625" cy="295275"/>
          </a:xfrm>
          <a:prstGeom prst="rect">
            <a:avLst/>
          </a:prstGeom>
          <a:noFill/>
          <a:ln w="0">
            <a:noFill/>
          </a:ln>
        </p:spPr>
        <p:txBody>
          <a:bodyPr wrap="square" lIns="0" tIns="0" rIns="0" bIns="0" anchor="t">
            <a:normAutofit/>
          </a:bodyPr>
          <a:lstStyle/>
          <a:p>
            <a:pPr algn="r">
              <a:lnSpc>
                <a:spcPct val="108000"/>
              </a:lnSpc>
              <a:buNone/>
              <a:defRPr sz="1500" b="1">
                <a:solidFill>
                  <a:srgbClr val="83B8F4"/>
                </a:solidFill>
                <a:latin typeface="BIZ UDPGothic"/>
                <a:ea typeface="BIZ UDPGothic"/>
                <a:cs typeface="BIZ UDPGothic"/>
              </a:defRPr>
            </a:pPr>
            <a:r>
              <a:rPr sz="1500" b="1">
                <a:solidFill>
                  <a:srgbClr val="83B8F4"/>
                </a:solidFill>
                <a:latin typeface="BIZ UDPGothic"/>
                <a:ea typeface="BIZ UDPGothic"/>
                <a:cs typeface="BIZ UDPGothic"/>
              </a:rPr>
              <a:t>費用重視</a:t>
            </a:r>
          </a:p>
        </p:txBody>
      </p:sp>
      <p:sp>
        <p:nvSpPr>
          <p:cNvPr id="17" name="角丸四角形 16">
            <a:extLst>
              <a:ext uri="{FF2B5EF4-FFF2-40B4-BE49-F238E27FC236}">
                <a16:creationId xmlns:a16="http://schemas.microsoft.com/office/drawing/2014/main" id="{94B9ADBA-8657-439F-A73F-535D30ABFE97}"/>
              </a:ext>
            </a:extLst>
          </p:cNvPr>
          <p:cNvSpPr>
            <a:spLocks noGrp="1"/>
          </p:cNvSpPr>
          <p:nvPr/>
        </p:nvSpPr>
        <p:spPr>
          <a:xfrm>
            <a:off x="5743575" y="4524375"/>
            <a:ext cx="5362575" cy="895350"/>
          </a:xfrm>
          <a:prstGeom prst="roundRect">
            <a:avLst>
              <a:gd name="adj" fmla="val 14894"/>
            </a:avLst>
          </a:prstGeom>
          <a:solidFill>
            <a:srgbClr val="121F2D"/>
          </a:solidFill>
          <a:ln w="0">
            <a:noFill/>
          </a:ln>
        </p:spPr>
        <p:txBody>
          <a:bodyPr/>
          <a:lstStyle/>
          <a:p>
            <a:endParaRPr lang="ja-JP" altLang="en-US"/>
          </a:p>
        </p:txBody>
      </p:sp>
      <p:sp>
        <p:nvSpPr>
          <p:cNvPr id="18" name="正方形/長方形 17">
            <a:extLst>
              <a:ext uri="{FF2B5EF4-FFF2-40B4-BE49-F238E27FC236}">
                <a16:creationId xmlns:a16="http://schemas.microsoft.com/office/drawing/2014/main" id="{2C7C0ECD-FBE2-43F1-8CBB-935C4C266409}"/>
              </a:ext>
            </a:extLst>
          </p:cNvPr>
          <p:cNvSpPr>
            <a:spLocks noGrp="1"/>
          </p:cNvSpPr>
          <p:nvPr/>
        </p:nvSpPr>
        <p:spPr>
          <a:xfrm>
            <a:off x="5972175" y="4695825"/>
            <a:ext cx="4819650" cy="552450"/>
          </a:xfrm>
          <a:prstGeom prst="rect">
            <a:avLst/>
          </a:prstGeom>
          <a:noFill/>
          <a:ln w="0">
            <a:noFill/>
          </a:ln>
        </p:spPr>
        <p:txBody>
          <a:bodyPr wrap="square" lIns="0" tIns="0" rIns="0" bIns="0" anchor="t">
            <a:normAutofit fontScale="94327"/>
          </a:bodyPr>
          <a:lstStyle/>
          <a:p>
            <a:pPr algn="ctr">
              <a:lnSpc>
                <a:spcPct val="122000"/>
              </a:lnSpc>
              <a:buNone/>
              <a:defRPr sz="1575" b="1">
                <a:solidFill>
                  <a:srgbClr val="F4F5F1"/>
                </a:solidFill>
                <a:latin typeface="BIZ UDPGothic"/>
                <a:ea typeface="BIZ UDPGothic"/>
                <a:cs typeface="BIZ UDPGothic"/>
              </a:defRPr>
            </a:pPr>
            <a:r>
              <a:rPr sz="1575" b="1">
                <a:solidFill>
                  <a:srgbClr val="F4F5F1"/>
                </a:solidFill>
                <a:latin typeface="BIZ UDPGothic"/>
                <a:ea typeface="BIZ UDPGothic"/>
                <a:cs typeface="BIZ UDPGothic"/>
              </a:rPr>
              <a:t>費用と移動時間を見比べ、</a:t>
            </a:r>
          </a:p>
          <a:p>
            <a:pPr algn="ctr">
              <a:lnSpc>
                <a:spcPct val="122000"/>
              </a:lnSpc>
              <a:buNone/>
              <a:defRPr sz="1575" b="1">
                <a:solidFill>
                  <a:srgbClr val="F4F5F1"/>
                </a:solidFill>
                <a:latin typeface="BIZ UDPGothic"/>
                <a:ea typeface="BIZ UDPGothic"/>
                <a:cs typeface="BIZ UDPGothic"/>
              </a:defRPr>
            </a:pPr>
            <a:r>
              <a:rPr sz="1575" b="1">
                <a:solidFill>
                  <a:srgbClr val="F4F5F1"/>
                </a:solidFill>
                <a:latin typeface="BIZ UDPGothic"/>
                <a:ea typeface="BIZ UDPGothic"/>
                <a:cs typeface="BIZ UDPGothic"/>
              </a:rPr>
              <a:t>自分の条件に合うプランを選ぶ</a:t>
            </a:r>
          </a:p>
        </p:txBody>
      </p:sp>
      <p:sp>
        <p:nvSpPr>
          <p:cNvPr id="19" name="正方形/長方形 18">
            <a:extLst>
              <a:ext uri="{FF2B5EF4-FFF2-40B4-BE49-F238E27FC236}">
                <a16:creationId xmlns:a16="http://schemas.microsoft.com/office/drawing/2014/main" id="{552B38B4-2CA3-4314-989F-065FED338A76}"/>
              </a:ext>
            </a:extLst>
          </p:cNvPr>
          <p:cNvSpPr>
            <a:spLocks noGrp="1"/>
          </p:cNvSpPr>
          <p:nvPr/>
        </p:nvSpPr>
        <p:spPr>
          <a:xfrm>
            <a:off x="685800" y="5943600"/>
            <a:ext cx="4286250" cy="238125"/>
          </a:xfrm>
          <a:prstGeom prst="rect">
            <a:avLst/>
          </a:prstGeom>
          <a:noFill/>
          <a:ln w="0">
            <a:noFill/>
          </a:ln>
        </p:spPr>
        <p:txBody>
          <a:bodyPr wrap="square" lIns="0" tIns="0" rIns="0" bIns="0" anchor="t">
            <a:normAutofit/>
          </a:bodyPr>
          <a:lstStyle/>
          <a:p>
            <a:pPr algn="l">
              <a:lnSpc>
                <a:spcPct val="108000"/>
              </a:lnSpc>
              <a:buNone/>
              <a:defRPr sz="1200" b="0">
                <a:solidFill>
                  <a:srgbClr val="6F8493"/>
                </a:solidFill>
                <a:latin typeface="BIZ UDPGothic"/>
                <a:ea typeface="BIZ UDPGothic"/>
                <a:cs typeface="BIZ UDPGothic"/>
              </a:defRPr>
            </a:pPr>
            <a:r>
              <a:rPr sz="1200" b="0">
                <a:solidFill>
                  <a:srgbClr val="6F8493"/>
                </a:solidFill>
                <a:latin typeface="BIZ UDPGothic"/>
                <a:ea typeface="BIZ UDPGothic"/>
                <a:cs typeface="BIZ UDPGothic"/>
              </a:rPr>
              <a:t>ローカル模擬データによるデモ</a:t>
            </a:r>
          </a:p>
        </p:txBody>
      </p:sp>
    </p:spTree>
    <p:extLst>
      <p:ext uri="{BB962C8B-B14F-4D97-AF65-F5344CB8AC3E}">
        <p14:creationId xmlns:p14="http://schemas.microsoft.com/office/powerpoint/2010/main" val="138228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DEA9D19B-5F4B-4E15-B8B2-291E065BFB86}"/>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3B452E15-235B-4935-B75A-3E2016DF03EE}"/>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AIが準備し、人が確認して進める</a:t>
            </a:r>
          </a:p>
        </p:txBody>
      </p:sp>
      <p:sp>
        <p:nvSpPr>
          <p:cNvPr id="3" name="正方形/長方形 2">
            <a:extLst>
              <a:ext uri="{FF2B5EF4-FFF2-40B4-BE49-F238E27FC236}">
                <a16:creationId xmlns:a16="http://schemas.microsoft.com/office/drawing/2014/main" id="{6EDB04DF-EA97-4E82-B651-D8326CE30F2D}"/>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6EB4FA8A-C5B5-478A-9E31-18468D2A18AD}"/>
              </a:ext>
            </a:extLst>
          </p:cNvPr>
          <p:cNvSpPr>
            <a:spLocks noGrp="1"/>
          </p:cNvSpPr>
          <p:nvPr/>
        </p:nvSpPr>
        <p:spPr>
          <a:xfrm>
            <a:off x="781050" y="2324100"/>
            <a:ext cx="1524000" cy="257175"/>
          </a:xfrm>
          <a:prstGeom prst="rect">
            <a:avLst/>
          </a:prstGeom>
          <a:noFill/>
          <a:ln w="0">
            <a:noFill/>
          </a:ln>
        </p:spPr>
        <p:txBody>
          <a:bodyPr wrap="square" lIns="0" tIns="0" rIns="0" bIns="0" anchor="t">
            <a:normAutofit/>
          </a:bodyPr>
          <a:lstStyle/>
          <a:p>
            <a:pPr algn="l">
              <a:lnSpc>
                <a:spcPct val="108000"/>
              </a:lnSpc>
              <a:buNone/>
              <a:defRPr sz="1275" b="1">
                <a:solidFill>
                  <a:srgbClr val="7DE0CC"/>
                </a:solidFill>
                <a:latin typeface="BIZ UDPGothic"/>
                <a:ea typeface="BIZ UDPGothic"/>
                <a:cs typeface="BIZ UDPGothic"/>
              </a:defRPr>
            </a:pPr>
            <a:r>
              <a:rPr sz="1275" b="1">
                <a:solidFill>
                  <a:srgbClr val="7DE0CC"/>
                </a:solidFill>
                <a:latin typeface="BIZ UDPGothic"/>
                <a:ea typeface="BIZ UDPGothic"/>
                <a:cs typeface="BIZ UDPGothic"/>
              </a:rPr>
              <a:t>01</a:t>
            </a:r>
          </a:p>
        </p:txBody>
      </p:sp>
      <p:sp>
        <p:nvSpPr>
          <p:cNvPr id="5" name="正方形/長方形 4">
            <a:extLst>
              <a:ext uri="{FF2B5EF4-FFF2-40B4-BE49-F238E27FC236}">
                <a16:creationId xmlns:a16="http://schemas.microsoft.com/office/drawing/2014/main" id="{A14AF34D-1607-420D-A154-637E38D33362}"/>
              </a:ext>
            </a:extLst>
          </p:cNvPr>
          <p:cNvSpPr>
            <a:spLocks noGrp="1"/>
          </p:cNvSpPr>
          <p:nvPr/>
        </p:nvSpPr>
        <p:spPr>
          <a:xfrm>
            <a:off x="781050" y="2790825"/>
            <a:ext cx="3238500" cy="438150"/>
          </a:xfrm>
          <a:prstGeom prst="rect">
            <a:avLst/>
          </a:prstGeom>
          <a:noFill/>
          <a:ln w="0">
            <a:noFill/>
          </a:ln>
        </p:spPr>
        <p:txBody>
          <a:bodyPr wrap="square" lIns="0" tIns="0" rIns="0" bIns="0" anchor="t">
            <a:normAutofit/>
          </a:bodyPr>
          <a:lstStyle/>
          <a:p>
            <a:pPr algn="l">
              <a:lnSpc>
                <a:spcPct val="108000"/>
              </a:lnSpc>
              <a:buNone/>
              <a:defRPr sz="2175" b="1">
                <a:solidFill>
                  <a:srgbClr val="F4F5F1"/>
                </a:solidFill>
                <a:latin typeface="BIZ UDPGothic"/>
                <a:ea typeface="BIZ UDPGothic"/>
                <a:cs typeface="BIZ UDPGothic"/>
              </a:defRPr>
            </a:pPr>
            <a:r>
              <a:rPr sz="2175" b="1">
                <a:solidFill>
                  <a:srgbClr val="F4F5F1"/>
                </a:solidFill>
                <a:latin typeface="BIZ UDPGothic"/>
                <a:ea typeface="BIZ UDPGothic"/>
                <a:cs typeface="BIZ UDPGothic"/>
              </a:rPr>
              <a:t>計画を選ぶ</a:t>
            </a:r>
          </a:p>
        </p:txBody>
      </p:sp>
      <p:sp>
        <p:nvSpPr>
          <p:cNvPr id="6" name="正方形/長方形 5">
            <a:extLst>
              <a:ext uri="{FF2B5EF4-FFF2-40B4-BE49-F238E27FC236}">
                <a16:creationId xmlns:a16="http://schemas.microsoft.com/office/drawing/2014/main" id="{9C1B932C-7387-4CAC-ACA0-BD956DABF3E2}"/>
              </a:ext>
            </a:extLst>
          </p:cNvPr>
          <p:cNvSpPr>
            <a:spLocks noGrp="1"/>
          </p:cNvSpPr>
          <p:nvPr/>
        </p:nvSpPr>
        <p:spPr>
          <a:xfrm>
            <a:off x="781050" y="3362325"/>
            <a:ext cx="3143250" cy="495300"/>
          </a:xfrm>
          <a:prstGeom prst="rect">
            <a:avLst/>
          </a:prstGeom>
          <a:noFill/>
          <a:ln w="0">
            <a:noFill/>
          </a:ln>
        </p:spPr>
        <p:txBody>
          <a:bodyPr wrap="square" lIns="0" tIns="0" rIns="0" bIns="0" anchor="t">
            <a:normAutofit/>
          </a:bodyPr>
          <a:lstStyle/>
          <a:p>
            <a:pPr algn="l">
              <a:lnSpc>
                <a:spcPct val="108000"/>
              </a:lnSpc>
              <a:buNone/>
              <a:defRPr sz="1425" b="0">
                <a:solidFill>
                  <a:srgbClr val="A9B8C3"/>
                </a:solidFill>
                <a:latin typeface="BIZ UDPGothic"/>
                <a:ea typeface="BIZ UDPGothic"/>
                <a:cs typeface="BIZ UDPGothic"/>
              </a:defRPr>
            </a:pPr>
            <a:r>
              <a:rPr sz="1425" b="0">
                <a:solidFill>
                  <a:srgbClr val="A9B8C3"/>
                </a:solidFill>
                <a:latin typeface="BIZ UDPGothic"/>
                <a:ea typeface="BIZ UDPGothic"/>
                <a:cs typeface="BIZ UDPGothic"/>
              </a:rPr>
              <a:t>条件・費用・根拠を確認</a:t>
            </a:r>
          </a:p>
        </p:txBody>
      </p:sp>
      <p:sp>
        <p:nvSpPr>
          <p:cNvPr id="7" name="正方形/長方形 6">
            <a:extLst>
              <a:ext uri="{FF2B5EF4-FFF2-40B4-BE49-F238E27FC236}">
                <a16:creationId xmlns:a16="http://schemas.microsoft.com/office/drawing/2014/main" id="{C1758CEE-E799-49DC-B906-900F0C9F9FC4}"/>
              </a:ext>
            </a:extLst>
          </p:cNvPr>
          <p:cNvSpPr>
            <a:spLocks noGrp="1"/>
          </p:cNvSpPr>
          <p:nvPr/>
        </p:nvSpPr>
        <p:spPr>
          <a:xfrm>
            <a:off x="4362450" y="2324100"/>
            <a:ext cx="1524000" cy="257175"/>
          </a:xfrm>
          <a:prstGeom prst="rect">
            <a:avLst/>
          </a:prstGeom>
          <a:noFill/>
          <a:ln w="0">
            <a:noFill/>
          </a:ln>
        </p:spPr>
        <p:txBody>
          <a:bodyPr wrap="square" lIns="0" tIns="0" rIns="0" bIns="0" anchor="t">
            <a:normAutofit/>
          </a:bodyPr>
          <a:lstStyle/>
          <a:p>
            <a:pPr algn="l">
              <a:lnSpc>
                <a:spcPct val="108000"/>
              </a:lnSpc>
              <a:buNone/>
              <a:defRPr sz="1275" b="1">
                <a:solidFill>
                  <a:srgbClr val="83B8F4"/>
                </a:solidFill>
                <a:latin typeface="BIZ UDPGothic"/>
                <a:ea typeface="BIZ UDPGothic"/>
                <a:cs typeface="BIZ UDPGothic"/>
              </a:defRPr>
            </a:pPr>
            <a:r>
              <a:rPr sz="1275" b="1">
                <a:solidFill>
                  <a:srgbClr val="83B8F4"/>
                </a:solidFill>
                <a:latin typeface="BIZ UDPGothic"/>
                <a:ea typeface="BIZ UDPGothic"/>
                <a:cs typeface="BIZ UDPGothic"/>
              </a:rPr>
              <a:t>02</a:t>
            </a:r>
          </a:p>
        </p:txBody>
      </p:sp>
      <p:sp>
        <p:nvSpPr>
          <p:cNvPr id="8" name="正方形/長方形 7">
            <a:extLst>
              <a:ext uri="{FF2B5EF4-FFF2-40B4-BE49-F238E27FC236}">
                <a16:creationId xmlns:a16="http://schemas.microsoft.com/office/drawing/2014/main" id="{509A70D5-A2CE-4192-9DCE-6A41CD9BC73B}"/>
              </a:ext>
            </a:extLst>
          </p:cNvPr>
          <p:cNvSpPr>
            <a:spLocks noGrp="1"/>
          </p:cNvSpPr>
          <p:nvPr/>
        </p:nvSpPr>
        <p:spPr>
          <a:xfrm>
            <a:off x="4362450" y="2790825"/>
            <a:ext cx="3238500" cy="438150"/>
          </a:xfrm>
          <a:prstGeom prst="rect">
            <a:avLst/>
          </a:prstGeom>
          <a:noFill/>
          <a:ln w="0">
            <a:noFill/>
          </a:ln>
        </p:spPr>
        <p:txBody>
          <a:bodyPr wrap="square" lIns="0" tIns="0" rIns="0" bIns="0" anchor="t">
            <a:normAutofit/>
          </a:bodyPr>
          <a:lstStyle/>
          <a:p>
            <a:pPr algn="l">
              <a:lnSpc>
                <a:spcPct val="108000"/>
              </a:lnSpc>
              <a:buNone/>
              <a:defRPr sz="2175" b="1">
                <a:solidFill>
                  <a:srgbClr val="F4F5F1"/>
                </a:solidFill>
                <a:latin typeface="BIZ UDPGothic"/>
                <a:ea typeface="BIZ UDPGothic"/>
                <a:cs typeface="BIZ UDPGothic"/>
              </a:defRPr>
            </a:pPr>
            <a:r>
              <a:rPr lang="ja-JP" altLang="en-US" sz="2175" b="1">
                <a:solidFill>
                  <a:srgbClr val="F4F5F1"/>
                </a:solidFill>
                <a:latin typeface="BIZ UDPGothic"/>
                <a:ea typeface="BIZ UDPGothic"/>
                <a:cs typeface="BIZ UDPGothic"/>
              </a:rPr>
              <a:t>メール</a:t>
            </a:r>
            <a:r>
              <a:rPr sz="2175" b="1" dirty="0" err="1">
                <a:solidFill>
                  <a:srgbClr val="F4F5F1"/>
                </a:solidFill>
                <a:latin typeface="BIZ UDPGothic"/>
                <a:ea typeface="BIZ UDPGothic"/>
                <a:cs typeface="BIZ UDPGothic"/>
              </a:rPr>
              <a:t>を作る</a:t>
            </a:r>
            <a:endParaRPr sz="2175" b="1" dirty="0">
              <a:solidFill>
                <a:srgbClr val="F4F5F1"/>
              </a:solidFill>
              <a:latin typeface="BIZ UDPGothic"/>
              <a:ea typeface="BIZ UDPGothic"/>
              <a:cs typeface="BIZ UDPGothic"/>
            </a:endParaRPr>
          </a:p>
        </p:txBody>
      </p:sp>
      <p:sp>
        <p:nvSpPr>
          <p:cNvPr id="9" name="正方形/長方形 8">
            <a:extLst>
              <a:ext uri="{FF2B5EF4-FFF2-40B4-BE49-F238E27FC236}">
                <a16:creationId xmlns:a16="http://schemas.microsoft.com/office/drawing/2014/main" id="{54581673-5A2F-4A79-BE47-81E6F38EB2DA}"/>
              </a:ext>
            </a:extLst>
          </p:cNvPr>
          <p:cNvSpPr>
            <a:spLocks noGrp="1"/>
          </p:cNvSpPr>
          <p:nvPr/>
        </p:nvSpPr>
        <p:spPr>
          <a:xfrm>
            <a:off x="4362450" y="3362325"/>
            <a:ext cx="3143250" cy="495300"/>
          </a:xfrm>
          <a:prstGeom prst="rect">
            <a:avLst/>
          </a:prstGeom>
          <a:noFill/>
          <a:ln w="0">
            <a:noFill/>
          </a:ln>
        </p:spPr>
        <p:txBody>
          <a:bodyPr wrap="square" lIns="0" tIns="0" rIns="0" bIns="0" anchor="t">
            <a:normAutofit/>
          </a:bodyPr>
          <a:lstStyle/>
          <a:p>
            <a:pPr algn="l">
              <a:lnSpc>
                <a:spcPct val="108000"/>
              </a:lnSpc>
              <a:buNone/>
              <a:defRPr sz="1425" b="0">
                <a:solidFill>
                  <a:srgbClr val="A9B8C3"/>
                </a:solidFill>
                <a:latin typeface="BIZ UDPGothic"/>
                <a:ea typeface="BIZ UDPGothic"/>
                <a:cs typeface="BIZ UDPGothic"/>
              </a:defRPr>
            </a:pPr>
            <a:r>
              <a:rPr sz="1425" b="0">
                <a:solidFill>
                  <a:srgbClr val="A9B8C3"/>
                </a:solidFill>
                <a:latin typeface="BIZ UDPGothic"/>
                <a:ea typeface="BIZ UDPGothic"/>
                <a:cs typeface="BIZ UDPGothic"/>
              </a:rPr>
              <a:t>承認依頼の.emlを生成</a:t>
            </a:r>
          </a:p>
        </p:txBody>
      </p:sp>
      <p:sp>
        <p:nvSpPr>
          <p:cNvPr id="10" name="正方形/長方形 9">
            <a:extLst>
              <a:ext uri="{FF2B5EF4-FFF2-40B4-BE49-F238E27FC236}">
                <a16:creationId xmlns:a16="http://schemas.microsoft.com/office/drawing/2014/main" id="{7C5AD379-7EE5-49B4-B647-E622A8739B13}"/>
              </a:ext>
            </a:extLst>
          </p:cNvPr>
          <p:cNvSpPr>
            <a:spLocks noGrp="1"/>
          </p:cNvSpPr>
          <p:nvPr/>
        </p:nvSpPr>
        <p:spPr>
          <a:xfrm>
            <a:off x="7943850" y="2324100"/>
            <a:ext cx="1524000" cy="257175"/>
          </a:xfrm>
          <a:prstGeom prst="rect">
            <a:avLst/>
          </a:prstGeom>
          <a:noFill/>
          <a:ln w="0">
            <a:noFill/>
          </a:ln>
        </p:spPr>
        <p:txBody>
          <a:bodyPr wrap="square" lIns="0" tIns="0" rIns="0" bIns="0" anchor="t">
            <a:normAutofit/>
          </a:bodyPr>
          <a:lstStyle/>
          <a:p>
            <a:pPr algn="l">
              <a:lnSpc>
                <a:spcPct val="108000"/>
              </a:lnSpc>
              <a:buNone/>
              <a:defRPr sz="1275" b="1">
                <a:solidFill>
                  <a:srgbClr val="F1C27D"/>
                </a:solidFill>
                <a:latin typeface="BIZ UDPGothic"/>
                <a:ea typeface="BIZ UDPGothic"/>
                <a:cs typeface="BIZ UDPGothic"/>
              </a:defRPr>
            </a:pPr>
            <a:r>
              <a:rPr sz="1275" b="1">
                <a:solidFill>
                  <a:srgbClr val="F1C27D"/>
                </a:solidFill>
                <a:latin typeface="BIZ UDPGothic"/>
                <a:ea typeface="BIZ UDPGothic"/>
                <a:cs typeface="BIZ UDPGothic"/>
              </a:rPr>
              <a:t>03</a:t>
            </a:r>
          </a:p>
        </p:txBody>
      </p:sp>
      <p:sp>
        <p:nvSpPr>
          <p:cNvPr id="11" name="正方形/長方形 10">
            <a:extLst>
              <a:ext uri="{FF2B5EF4-FFF2-40B4-BE49-F238E27FC236}">
                <a16:creationId xmlns:a16="http://schemas.microsoft.com/office/drawing/2014/main" id="{5CE4D063-A0BD-4288-8B60-EF927BFA0788}"/>
              </a:ext>
            </a:extLst>
          </p:cNvPr>
          <p:cNvSpPr>
            <a:spLocks noGrp="1"/>
          </p:cNvSpPr>
          <p:nvPr/>
        </p:nvSpPr>
        <p:spPr>
          <a:xfrm>
            <a:off x="7943850" y="2790825"/>
            <a:ext cx="3238500" cy="438150"/>
          </a:xfrm>
          <a:prstGeom prst="rect">
            <a:avLst/>
          </a:prstGeom>
          <a:noFill/>
          <a:ln w="0">
            <a:noFill/>
          </a:ln>
        </p:spPr>
        <p:txBody>
          <a:bodyPr wrap="square" lIns="0" tIns="0" rIns="0" bIns="0" anchor="t">
            <a:normAutofit/>
          </a:bodyPr>
          <a:lstStyle/>
          <a:p>
            <a:pPr algn="l">
              <a:lnSpc>
                <a:spcPct val="108000"/>
              </a:lnSpc>
              <a:buNone/>
              <a:defRPr sz="2175" b="1">
                <a:solidFill>
                  <a:srgbClr val="F4F5F1"/>
                </a:solidFill>
                <a:latin typeface="BIZ UDPGothic"/>
                <a:ea typeface="BIZ UDPGothic"/>
                <a:cs typeface="BIZ UDPGothic"/>
              </a:defRPr>
            </a:pPr>
            <a:r>
              <a:rPr sz="2175" b="1">
                <a:solidFill>
                  <a:srgbClr val="F4F5F1"/>
                </a:solidFill>
                <a:latin typeface="BIZ UDPGothic"/>
                <a:ea typeface="BIZ UDPGothic"/>
                <a:cs typeface="BIZ UDPGothic"/>
              </a:rPr>
              <a:t>人が確認・送信</a:t>
            </a:r>
          </a:p>
        </p:txBody>
      </p:sp>
      <p:sp>
        <p:nvSpPr>
          <p:cNvPr id="12" name="正方形/長方形 11">
            <a:extLst>
              <a:ext uri="{FF2B5EF4-FFF2-40B4-BE49-F238E27FC236}">
                <a16:creationId xmlns:a16="http://schemas.microsoft.com/office/drawing/2014/main" id="{E733E89B-900C-4B0B-9C0C-7C096DC76994}"/>
              </a:ext>
            </a:extLst>
          </p:cNvPr>
          <p:cNvSpPr>
            <a:spLocks noGrp="1"/>
          </p:cNvSpPr>
          <p:nvPr/>
        </p:nvSpPr>
        <p:spPr>
          <a:xfrm>
            <a:off x="7943850" y="3362325"/>
            <a:ext cx="3143250" cy="495300"/>
          </a:xfrm>
          <a:prstGeom prst="rect">
            <a:avLst/>
          </a:prstGeom>
          <a:noFill/>
          <a:ln w="0">
            <a:noFill/>
          </a:ln>
        </p:spPr>
        <p:txBody>
          <a:bodyPr wrap="square" lIns="0" tIns="0" rIns="0" bIns="0" anchor="t">
            <a:normAutofit/>
          </a:bodyPr>
          <a:lstStyle/>
          <a:p>
            <a:pPr algn="l">
              <a:lnSpc>
                <a:spcPct val="108000"/>
              </a:lnSpc>
              <a:buNone/>
              <a:defRPr sz="1425" b="0">
                <a:solidFill>
                  <a:srgbClr val="A9B8C3"/>
                </a:solidFill>
                <a:latin typeface="BIZ UDPGothic"/>
                <a:ea typeface="BIZ UDPGothic"/>
                <a:cs typeface="BIZ UDPGothic"/>
              </a:defRPr>
            </a:pPr>
            <a:r>
              <a:rPr sz="1425" b="0">
                <a:solidFill>
                  <a:srgbClr val="A9B8C3"/>
                </a:solidFill>
                <a:latin typeface="BIZ UDPGothic"/>
                <a:ea typeface="BIZ UDPGothic"/>
                <a:cs typeface="BIZ UDPGothic"/>
              </a:rPr>
              <a:t>必要に応じて編集して送信</a:t>
            </a:r>
          </a:p>
        </p:txBody>
      </p:sp>
      <p:sp>
        <p:nvSpPr>
          <p:cNvPr id="13" name="正方形/長方形 12">
            <a:extLst>
              <a:ext uri="{FF2B5EF4-FFF2-40B4-BE49-F238E27FC236}">
                <a16:creationId xmlns:a16="http://schemas.microsoft.com/office/drawing/2014/main" id="{A18C1012-8071-4EF8-8EC4-95FE0461C5B7}"/>
              </a:ext>
            </a:extLst>
          </p:cNvPr>
          <p:cNvSpPr>
            <a:spLocks noGrp="1"/>
          </p:cNvSpPr>
          <p:nvPr/>
        </p:nvSpPr>
        <p:spPr>
          <a:xfrm>
            <a:off x="2590800" y="3000375"/>
            <a:ext cx="1390650" cy="19050"/>
          </a:xfrm>
          <a:prstGeom prst="rect">
            <a:avLst/>
          </a:prstGeom>
          <a:solidFill>
            <a:srgbClr val="304454"/>
          </a:solidFill>
          <a:ln w="0">
            <a:noFill/>
          </a:ln>
        </p:spPr>
        <p:txBody>
          <a:bodyPr/>
          <a:lstStyle/>
          <a:p>
            <a:endParaRPr lang="ja-JP" altLang="en-US"/>
          </a:p>
        </p:txBody>
      </p:sp>
      <p:sp>
        <p:nvSpPr>
          <p:cNvPr id="14" name="山形 13">
            <a:extLst>
              <a:ext uri="{FF2B5EF4-FFF2-40B4-BE49-F238E27FC236}">
                <a16:creationId xmlns:a16="http://schemas.microsoft.com/office/drawing/2014/main" id="{A59F94A1-51A0-49EB-A5A8-54C34E8D535E}"/>
              </a:ext>
            </a:extLst>
          </p:cNvPr>
          <p:cNvSpPr>
            <a:spLocks noGrp="1"/>
          </p:cNvSpPr>
          <p:nvPr/>
        </p:nvSpPr>
        <p:spPr>
          <a:xfrm>
            <a:off x="3876675" y="2895600"/>
            <a:ext cx="180975" cy="219075"/>
          </a:xfrm>
          <a:prstGeom prst="chevron">
            <a:avLst/>
          </a:prstGeom>
          <a:solidFill>
            <a:srgbClr val="7DE0CC"/>
          </a:solidFill>
          <a:ln w="0">
            <a:noFill/>
          </a:ln>
        </p:spPr>
        <p:txBody>
          <a:bodyPr/>
          <a:lstStyle/>
          <a:p>
            <a:endParaRPr lang="ja-JP" altLang="en-US"/>
          </a:p>
        </p:txBody>
      </p:sp>
      <p:sp>
        <p:nvSpPr>
          <p:cNvPr id="15" name="正方形/長方形 14">
            <a:extLst>
              <a:ext uri="{FF2B5EF4-FFF2-40B4-BE49-F238E27FC236}">
                <a16:creationId xmlns:a16="http://schemas.microsoft.com/office/drawing/2014/main" id="{24D95721-E4F4-4E8F-80A9-EB2C901C2E80}"/>
              </a:ext>
            </a:extLst>
          </p:cNvPr>
          <p:cNvSpPr>
            <a:spLocks noGrp="1"/>
          </p:cNvSpPr>
          <p:nvPr/>
        </p:nvSpPr>
        <p:spPr>
          <a:xfrm>
            <a:off x="6191250" y="3000375"/>
            <a:ext cx="1390650" cy="19050"/>
          </a:xfrm>
          <a:prstGeom prst="rect">
            <a:avLst/>
          </a:prstGeom>
          <a:solidFill>
            <a:srgbClr val="304454"/>
          </a:solidFill>
          <a:ln w="0">
            <a:noFill/>
          </a:ln>
        </p:spPr>
        <p:txBody>
          <a:bodyPr/>
          <a:lstStyle/>
          <a:p>
            <a:endParaRPr lang="ja-JP" altLang="en-US"/>
          </a:p>
        </p:txBody>
      </p:sp>
      <p:sp>
        <p:nvSpPr>
          <p:cNvPr id="16" name="山形 15">
            <a:extLst>
              <a:ext uri="{FF2B5EF4-FFF2-40B4-BE49-F238E27FC236}">
                <a16:creationId xmlns:a16="http://schemas.microsoft.com/office/drawing/2014/main" id="{AA031159-4DEE-4ED9-8164-ECD631678BA3}"/>
              </a:ext>
            </a:extLst>
          </p:cNvPr>
          <p:cNvSpPr>
            <a:spLocks noGrp="1"/>
          </p:cNvSpPr>
          <p:nvPr/>
        </p:nvSpPr>
        <p:spPr>
          <a:xfrm>
            <a:off x="7477125" y="2895600"/>
            <a:ext cx="180975" cy="219075"/>
          </a:xfrm>
          <a:prstGeom prst="chevron">
            <a:avLst/>
          </a:prstGeom>
          <a:solidFill>
            <a:srgbClr val="83B8F4"/>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43880247-1A5A-4628-9C12-6AB07B81528A}"/>
              </a:ext>
            </a:extLst>
          </p:cNvPr>
          <p:cNvSpPr>
            <a:spLocks noGrp="1"/>
          </p:cNvSpPr>
          <p:nvPr/>
        </p:nvSpPr>
        <p:spPr>
          <a:xfrm>
            <a:off x="762000" y="3743326"/>
            <a:ext cx="10248900" cy="9525"/>
          </a:xfrm>
          <a:prstGeom prst="rect">
            <a:avLst/>
          </a:prstGeom>
          <a:solidFill>
            <a:srgbClr val="304454"/>
          </a:solidFill>
          <a:ln w="0">
            <a:noFill/>
          </a:ln>
        </p:spPr>
        <p:txBody>
          <a:bodyPr/>
          <a:lstStyle/>
          <a:p>
            <a:endParaRPr lang="ja-JP" altLang="en-US"/>
          </a:p>
        </p:txBody>
      </p:sp>
      <p:sp>
        <p:nvSpPr>
          <p:cNvPr id="18" name="正方形/長方形 17">
            <a:extLst>
              <a:ext uri="{FF2B5EF4-FFF2-40B4-BE49-F238E27FC236}">
                <a16:creationId xmlns:a16="http://schemas.microsoft.com/office/drawing/2014/main" id="{3F907AAB-FE9C-4C2A-AF88-B602802E0E3C}"/>
              </a:ext>
            </a:extLst>
          </p:cNvPr>
          <p:cNvSpPr>
            <a:spLocks noGrp="1"/>
          </p:cNvSpPr>
          <p:nvPr/>
        </p:nvSpPr>
        <p:spPr>
          <a:xfrm>
            <a:off x="-1787434" y="3790952"/>
            <a:ext cx="10401300" cy="342900"/>
          </a:xfrm>
          <a:prstGeom prst="rect">
            <a:avLst/>
          </a:prstGeom>
          <a:noFill/>
          <a:ln w="0">
            <a:noFill/>
          </a:ln>
        </p:spPr>
        <p:txBody>
          <a:bodyPr wrap="square" lIns="0" tIns="0" rIns="0" bIns="0" anchor="t">
            <a:normAutofit/>
          </a:bodyPr>
          <a:lstStyle/>
          <a:p>
            <a:pPr algn="ctr">
              <a:lnSpc>
                <a:spcPct val="108000"/>
              </a:lnSpc>
              <a:buNone/>
              <a:defRPr sz="1725" b="1">
                <a:solidFill>
                  <a:srgbClr val="F4F5F1"/>
                </a:solidFill>
                <a:latin typeface="BIZ UDPGothic"/>
                <a:ea typeface="BIZ UDPGothic"/>
                <a:cs typeface="BIZ UDPGothic"/>
              </a:defRPr>
            </a:pPr>
            <a:r>
              <a:rPr sz="1725" b="1">
                <a:solidFill>
                  <a:srgbClr val="F4F5F1"/>
                </a:solidFill>
                <a:latin typeface="BIZ UDPGothic"/>
                <a:ea typeface="BIZ UDPGothic"/>
                <a:cs typeface="BIZ UDPGothic"/>
              </a:rPr>
              <a:t>重要な判断の前に、利用者が計画とメール内容を確認</a:t>
            </a:r>
          </a:p>
        </p:txBody>
      </p:sp>
      <p:sp>
        <p:nvSpPr>
          <p:cNvPr id="19" name="正方形/長方形 18">
            <a:extLst>
              <a:ext uri="{FF2B5EF4-FFF2-40B4-BE49-F238E27FC236}">
                <a16:creationId xmlns:a16="http://schemas.microsoft.com/office/drawing/2014/main" id="{D0DB99FE-7941-4C16-AF76-6E43EB3684B9}"/>
              </a:ext>
            </a:extLst>
          </p:cNvPr>
          <p:cNvSpPr>
            <a:spLocks noGrp="1"/>
          </p:cNvSpPr>
          <p:nvPr/>
        </p:nvSpPr>
        <p:spPr>
          <a:xfrm>
            <a:off x="733697" y="5164931"/>
            <a:ext cx="9525000" cy="333375"/>
          </a:xfrm>
          <a:prstGeom prst="rect">
            <a:avLst/>
          </a:prstGeom>
          <a:noFill/>
          <a:ln w="0">
            <a:noFill/>
          </a:ln>
        </p:spPr>
        <p:txBody>
          <a:bodyPr wrap="square" lIns="0" tIns="0" rIns="0" bIns="0" anchor="t">
            <a:normAutofit/>
          </a:bodyPr>
          <a:lstStyle/>
          <a:p>
            <a:pPr algn="l">
              <a:lnSpc>
                <a:spcPct val="108000"/>
              </a:lnSpc>
              <a:buNone/>
              <a:defRPr sz="1575" b="0">
                <a:solidFill>
                  <a:srgbClr val="F1C27D"/>
                </a:solidFill>
                <a:latin typeface="BIZ UDPGothic"/>
                <a:ea typeface="BIZ UDPGothic"/>
                <a:cs typeface="BIZ UDPGothic"/>
              </a:defRPr>
            </a:pPr>
            <a:r>
              <a:rPr sz="1575" b="0" dirty="0" err="1">
                <a:solidFill>
                  <a:srgbClr val="F1C27D"/>
                </a:solidFill>
                <a:latin typeface="BIZ UDPGothic"/>
                <a:ea typeface="BIZ UDPGothic"/>
                <a:cs typeface="BIZ UDPGothic"/>
              </a:rPr>
              <a:t>AIの準備力と、人の判断力を組み合わせる</a:t>
            </a:r>
            <a:endParaRPr sz="1575" b="0" dirty="0">
              <a:solidFill>
                <a:srgbClr val="F1C27D"/>
              </a:solidFill>
              <a:latin typeface="BIZ UDPGothic"/>
              <a:ea typeface="BIZ UDPGothic"/>
              <a:cs typeface="BIZ UDPGothic"/>
            </a:endParaRPr>
          </a:p>
        </p:txBody>
      </p:sp>
      <p:pic>
        <p:nvPicPr>
          <p:cNvPr id="22" name="図 21">
            <a:extLst>
              <a:ext uri="{FF2B5EF4-FFF2-40B4-BE49-F238E27FC236}">
                <a16:creationId xmlns:a16="http://schemas.microsoft.com/office/drawing/2014/main" id="{021B7276-1520-FBD8-A772-AFE7FF18ECCC}"/>
              </a:ext>
            </a:extLst>
          </p:cNvPr>
          <p:cNvPicPr>
            <a:picLocks noChangeAspect="1"/>
          </p:cNvPicPr>
          <p:nvPr/>
        </p:nvPicPr>
        <p:blipFill>
          <a:blip r:embed="rId3">
            <a:extLst>
              <a:ext uri="{28A0092B-C50C-407E-A947-70E740481C1C}">
                <a14:useLocalDpi xmlns:a14="http://schemas.microsoft.com/office/drawing/2010/main" val="0"/>
              </a:ext>
            </a:extLst>
          </a:blip>
          <a:srcRect l="3992" t="21021" r="4915" b="15701"/>
          <a:stretch>
            <a:fillRect/>
          </a:stretch>
        </p:blipFill>
        <p:spPr>
          <a:xfrm>
            <a:off x="4885507" y="4062413"/>
            <a:ext cx="7080069" cy="2809875"/>
          </a:xfrm>
          <a:prstGeom prst="rect">
            <a:avLst/>
          </a:prstGeom>
        </p:spPr>
      </p:pic>
    </p:spTree>
    <p:extLst>
      <p:ext uri="{BB962C8B-B14F-4D97-AF65-F5344CB8AC3E}">
        <p14:creationId xmlns:p14="http://schemas.microsoft.com/office/powerpoint/2010/main" val="208452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F3E52563-29EF-41C1-AB88-7533E4D97F48}"/>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85A0795E-B456-4709-9DF0-D7A319769CA1}"/>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OrcaRouterは、会話AIの推論経路に利用</a:t>
            </a:r>
          </a:p>
        </p:txBody>
      </p:sp>
      <p:sp>
        <p:nvSpPr>
          <p:cNvPr id="3" name="正方形/長方形 2">
            <a:extLst>
              <a:ext uri="{FF2B5EF4-FFF2-40B4-BE49-F238E27FC236}">
                <a16:creationId xmlns:a16="http://schemas.microsoft.com/office/drawing/2014/main" id="{AF7A4945-CCD4-4CAB-85C1-21A91A130A67}"/>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8739CC35-40CF-468A-9867-C5C9FD8529FB}"/>
              </a:ext>
            </a:extLst>
          </p:cNvPr>
          <p:cNvSpPr>
            <a:spLocks noGrp="1"/>
          </p:cNvSpPr>
          <p:nvPr/>
        </p:nvSpPr>
        <p:spPr>
          <a:xfrm>
            <a:off x="685800" y="1905000"/>
            <a:ext cx="2038350" cy="285750"/>
          </a:xfrm>
          <a:prstGeom prst="rect">
            <a:avLst/>
          </a:prstGeom>
          <a:noFill/>
          <a:ln w="0">
            <a:noFill/>
          </a:ln>
        </p:spPr>
        <p:txBody>
          <a:bodyPr wrap="square" lIns="0" tIns="0" rIns="0" bIns="0" anchor="t">
            <a:normAutofit/>
          </a:bodyPr>
          <a:lstStyle/>
          <a:p>
            <a:pPr algn="ctr">
              <a:lnSpc>
                <a:spcPct val="108000"/>
              </a:lnSpc>
              <a:buNone/>
              <a:defRPr sz="1500" b="1">
                <a:solidFill>
                  <a:srgbClr val="A9B8C3"/>
                </a:solidFill>
                <a:latin typeface="BIZ UDPGothic"/>
                <a:ea typeface="BIZ UDPGothic"/>
                <a:cs typeface="BIZ UDPGothic"/>
              </a:defRPr>
            </a:pPr>
            <a:r>
              <a:rPr sz="1500" b="1">
                <a:solidFill>
                  <a:srgbClr val="A9B8C3"/>
                </a:solidFill>
                <a:latin typeface="BIZ UDPGothic"/>
                <a:ea typeface="BIZ UDPGothic"/>
                <a:cs typeface="BIZ UDPGothic"/>
              </a:rPr>
              <a:t>会話・規程質問</a:t>
            </a:r>
          </a:p>
        </p:txBody>
      </p:sp>
      <p:sp>
        <p:nvSpPr>
          <p:cNvPr id="5" name="角丸四角形 4">
            <a:extLst>
              <a:ext uri="{FF2B5EF4-FFF2-40B4-BE49-F238E27FC236}">
                <a16:creationId xmlns:a16="http://schemas.microsoft.com/office/drawing/2014/main" id="{5F762C64-30D9-416B-9783-72C542AEBFA9}"/>
              </a:ext>
            </a:extLst>
          </p:cNvPr>
          <p:cNvSpPr>
            <a:spLocks noGrp="1"/>
          </p:cNvSpPr>
          <p:nvPr/>
        </p:nvSpPr>
        <p:spPr>
          <a:xfrm>
            <a:off x="704850" y="2343150"/>
            <a:ext cx="2019300" cy="952500"/>
          </a:xfrm>
          <a:prstGeom prst="roundRect">
            <a:avLst>
              <a:gd name="adj" fmla="val 14000"/>
            </a:avLst>
          </a:prstGeom>
          <a:solidFill>
            <a:srgbClr val="121F2D"/>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AE1F5199-9E04-44D4-B45E-93B0CD692DC7}"/>
              </a:ext>
            </a:extLst>
          </p:cNvPr>
          <p:cNvSpPr>
            <a:spLocks noGrp="1"/>
          </p:cNvSpPr>
          <p:nvPr/>
        </p:nvSpPr>
        <p:spPr>
          <a:xfrm>
            <a:off x="866775" y="2647950"/>
            <a:ext cx="1695450" cy="400050"/>
          </a:xfrm>
          <a:prstGeom prst="rect">
            <a:avLst/>
          </a:prstGeom>
          <a:noFill/>
          <a:ln w="0">
            <a:noFill/>
          </a:ln>
        </p:spPr>
        <p:txBody>
          <a:bodyPr wrap="square" lIns="0" tIns="0" rIns="0" bIns="0" anchor="t">
            <a:normAutofit fontScale="98363"/>
          </a:bodyPr>
          <a:lstStyle/>
          <a:p>
            <a:pPr algn="ctr">
              <a:lnSpc>
                <a:spcPct val="108000"/>
              </a:lnSpc>
              <a:buNone/>
              <a:defRPr sz="1725" b="1">
                <a:solidFill>
                  <a:srgbClr val="F4F5F1"/>
                </a:solidFill>
                <a:latin typeface="BIZ UDPGothic"/>
                <a:ea typeface="BIZ UDPGothic"/>
                <a:cs typeface="BIZ UDPGothic"/>
              </a:defRPr>
            </a:pPr>
            <a:r>
              <a:rPr sz="1725" b="1">
                <a:solidFill>
                  <a:srgbClr val="F4F5F1"/>
                </a:solidFill>
                <a:latin typeface="BIZ UDPGothic"/>
                <a:ea typeface="BIZ UDPGothic"/>
                <a:cs typeface="BIZ UDPGothic"/>
              </a:rPr>
              <a:t>BizTrip-Copilot</a:t>
            </a:r>
          </a:p>
        </p:txBody>
      </p:sp>
      <p:sp>
        <p:nvSpPr>
          <p:cNvPr id="7" name="正方形/長方形 6">
            <a:extLst>
              <a:ext uri="{FF2B5EF4-FFF2-40B4-BE49-F238E27FC236}">
                <a16:creationId xmlns:a16="http://schemas.microsoft.com/office/drawing/2014/main" id="{6FAE0459-255F-47DD-9CDF-1678EFE7AB1E}"/>
              </a:ext>
            </a:extLst>
          </p:cNvPr>
          <p:cNvSpPr>
            <a:spLocks noGrp="1"/>
          </p:cNvSpPr>
          <p:nvPr/>
        </p:nvSpPr>
        <p:spPr>
          <a:xfrm>
            <a:off x="2933700" y="2800350"/>
            <a:ext cx="819150" cy="28575"/>
          </a:xfrm>
          <a:prstGeom prst="rect">
            <a:avLst/>
          </a:prstGeom>
          <a:solidFill>
            <a:srgbClr val="304454"/>
          </a:solidFill>
          <a:ln w="0">
            <a:noFill/>
          </a:ln>
        </p:spPr>
        <p:txBody>
          <a:bodyPr/>
          <a:lstStyle/>
          <a:p>
            <a:endParaRPr lang="ja-JP" altLang="en-US"/>
          </a:p>
        </p:txBody>
      </p:sp>
      <p:sp>
        <p:nvSpPr>
          <p:cNvPr id="8" name="山形 7">
            <a:extLst>
              <a:ext uri="{FF2B5EF4-FFF2-40B4-BE49-F238E27FC236}">
                <a16:creationId xmlns:a16="http://schemas.microsoft.com/office/drawing/2014/main" id="{E807D870-2918-41F0-A700-FB1AB3459414}"/>
              </a:ext>
            </a:extLst>
          </p:cNvPr>
          <p:cNvSpPr>
            <a:spLocks noGrp="1"/>
          </p:cNvSpPr>
          <p:nvPr/>
        </p:nvSpPr>
        <p:spPr>
          <a:xfrm>
            <a:off x="3648075" y="2686050"/>
            <a:ext cx="190500" cy="247650"/>
          </a:xfrm>
          <a:prstGeom prst="chevron">
            <a:avLst/>
          </a:prstGeom>
          <a:solidFill>
            <a:srgbClr val="7DE0CC"/>
          </a:solidFill>
          <a:ln w="0">
            <a:noFill/>
          </a:ln>
        </p:spPr>
        <p:txBody>
          <a:bodyPr/>
          <a:lstStyle/>
          <a:p>
            <a:endParaRPr lang="ja-JP" altLang="en-US"/>
          </a:p>
        </p:txBody>
      </p:sp>
      <p:sp>
        <p:nvSpPr>
          <p:cNvPr id="9" name="角丸四角形 8">
            <a:extLst>
              <a:ext uri="{FF2B5EF4-FFF2-40B4-BE49-F238E27FC236}">
                <a16:creationId xmlns:a16="http://schemas.microsoft.com/office/drawing/2014/main" id="{E8D38D92-D381-40D8-A5BB-27E7AEB4ABF4}"/>
              </a:ext>
            </a:extLst>
          </p:cNvPr>
          <p:cNvSpPr>
            <a:spLocks noGrp="1"/>
          </p:cNvSpPr>
          <p:nvPr/>
        </p:nvSpPr>
        <p:spPr>
          <a:xfrm>
            <a:off x="4000500" y="2228850"/>
            <a:ext cx="2762250" cy="1200150"/>
          </a:xfrm>
          <a:prstGeom prst="roundRect">
            <a:avLst>
              <a:gd name="adj" fmla="val 11905"/>
            </a:avLst>
          </a:prstGeom>
          <a:solidFill>
            <a:srgbClr val="192A39"/>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B80D8042-274E-4094-9419-4F890A2BC864}"/>
              </a:ext>
            </a:extLst>
          </p:cNvPr>
          <p:cNvSpPr>
            <a:spLocks noGrp="1"/>
          </p:cNvSpPr>
          <p:nvPr/>
        </p:nvSpPr>
        <p:spPr>
          <a:xfrm>
            <a:off x="4210050" y="2409825"/>
            <a:ext cx="2343150" cy="333375"/>
          </a:xfrm>
          <a:prstGeom prst="rect">
            <a:avLst/>
          </a:prstGeom>
          <a:noFill/>
          <a:ln w="0">
            <a:noFill/>
          </a:ln>
        </p:spPr>
        <p:txBody>
          <a:bodyPr wrap="square" lIns="0" tIns="0" rIns="0" bIns="0" anchor="t">
            <a:normAutofit/>
          </a:bodyPr>
          <a:lstStyle/>
          <a:p>
            <a:pPr algn="ctr">
              <a:lnSpc>
                <a:spcPct val="108000"/>
              </a:lnSpc>
              <a:buNone/>
              <a:defRPr sz="2025" b="1">
                <a:solidFill>
                  <a:srgbClr val="7DE0CC"/>
                </a:solidFill>
                <a:latin typeface="BIZ UDPGothic"/>
                <a:ea typeface="BIZ UDPGothic"/>
                <a:cs typeface="BIZ UDPGothic"/>
              </a:defRPr>
            </a:pPr>
            <a:r>
              <a:rPr sz="2025" b="1">
                <a:solidFill>
                  <a:srgbClr val="7DE0CC"/>
                </a:solidFill>
                <a:latin typeface="BIZ UDPGothic"/>
                <a:ea typeface="BIZ UDPGothic"/>
                <a:cs typeface="BIZ UDPGothic"/>
              </a:rPr>
              <a:t>OrcaRouter</a:t>
            </a:r>
          </a:p>
        </p:txBody>
      </p:sp>
      <p:sp>
        <p:nvSpPr>
          <p:cNvPr id="11" name="正方形/長方形 10">
            <a:extLst>
              <a:ext uri="{FF2B5EF4-FFF2-40B4-BE49-F238E27FC236}">
                <a16:creationId xmlns:a16="http://schemas.microsoft.com/office/drawing/2014/main" id="{56EE341C-382C-4952-9E1E-627C0AF967A9}"/>
              </a:ext>
            </a:extLst>
          </p:cNvPr>
          <p:cNvSpPr>
            <a:spLocks noGrp="1"/>
          </p:cNvSpPr>
          <p:nvPr/>
        </p:nvSpPr>
        <p:spPr>
          <a:xfrm>
            <a:off x="4210050" y="2876550"/>
            <a:ext cx="2343150" cy="285750"/>
          </a:xfrm>
          <a:prstGeom prst="rect">
            <a:avLst/>
          </a:prstGeom>
          <a:noFill/>
          <a:ln w="0">
            <a:noFill/>
          </a:ln>
        </p:spPr>
        <p:txBody>
          <a:bodyPr wrap="square" lIns="0" tIns="0" rIns="0" bIns="0" anchor="t">
            <a:normAutofit/>
          </a:bodyPr>
          <a:lstStyle/>
          <a:p>
            <a:pPr algn="ctr">
              <a:lnSpc>
                <a:spcPct val="108000"/>
              </a:lnSpc>
              <a:buNone/>
              <a:defRPr sz="1350" b="0">
                <a:solidFill>
                  <a:srgbClr val="A9B8C3"/>
                </a:solidFill>
                <a:latin typeface="BIZ UDPGothic"/>
                <a:ea typeface="BIZ UDPGothic"/>
                <a:cs typeface="BIZ UDPGothic"/>
              </a:defRPr>
            </a:pPr>
            <a:r>
              <a:rPr sz="1350" b="0">
                <a:solidFill>
                  <a:srgbClr val="A9B8C3"/>
                </a:solidFill>
                <a:latin typeface="BIZ UDPGothic"/>
                <a:ea typeface="BIZ UDPGothic"/>
                <a:cs typeface="BIZ UDPGothic"/>
              </a:rPr>
              <a:t>OpenAI互換API</a:t>
            </a:r>
          </a:p>
        </p:txBody>
      </p:sp>
      <p:sp>
        <p:nvSpPr>
          <p:cNvPr id="12" name="正方形/長方形 11">
            <a:extLst>
              <a:ext uri="{FF2B5EF4-FFF2-40B4-BE49-F238E27FC236}">
                <a16:creationId xmlns:a16="http://schemas.microsoft.com/office/drawing/2014/main" id="{DF35F0AC-7AB0-43AA-B104-A62EB14A9A25}"/>
              </a:ext>
            </a:extLst>
          </p:cNvPr>
          <p:cNvSpPr>
            <a:spLocks noGrp="1"/>
          </p:cNvSpPr>
          <p:nvPr/>
        </p:nvSpPr>
        <p:spPr>
          <a:xfrm>
            <a:off x="6981825" y="2800350"/>
            <a:ext cx="809625" cy="28575"/>
          </a:xfrm>
          <a:prstGeom prst="rect">
            <a:avLst/>
          </a:prstGeom>
          <a:solidFill>
            <a:srgbClr val="304454"/>
          </a:solidFill>
          <a:ln w="0">
            <a:noFill/>
          </a:ln>
        </p:spPr>
        <p:txBody>
          <a:bodyPr/>
          <a:lstStyle/>
          <a:p>
            <a:endParaRPr lang="ja-JP" altLang="en-US"/>
          </a:p>
        </p:txBody>
      </p:sp>
      <p:sp>
        <p:nvSpPr>
          <p:cNvPr id="13" name="山形 12">
            <a:extLst>
              <a:ext uri="{FF2B5EF4-FFF2-40B4-BE49-F238E27FC236}">
                <a16:creationId xmlns:a16="http://schemas.microsoft.com/office/drawing/2014/main" id="{E4DDCC83-EFAF-4684-A13D-97E963C4DD00}"/>
              </a:ext>
            </a:extLst>
          </p:cNvPr>
          <p:cNvSpPr>
            <a:spLocks noGrp="1"/>
          </p:cNvSpPr>
          <p:nvPr/>
        </p:nvSpPr>
        <p:spPr>
          <a:xfrm>
            <a:off x="7686675" y="2686050"/>
            <a:ext cx="190500" cy="247650"/>
          </a:xfrm>
          <a:prstGeom prst="chevron">
            <a:avLst/>
          </a:prstGeom>
          <a:solidFill>
            <a:srgbClr val="7DE0CC"/>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D22E06CA-DF57-4379-8D7E-BAB586DE378B}"/>
              </a:ext>
            </a:extLst>
          </p:cNvPr>
          <p:cNvSpPr>
            <a:spLocks noGrp="1"/>
          </p:cNvSpPr>
          <p:nvPr/>
        </p:nvSpPr>
        <p:spPr>
          <a:xfrm>
            <a:off x="8124825" y="2085975"/>
            <a:ext cx="2971800" cy="247650"/>
          </a:xfrm>
          <a:prstGeom prst="rect">
            <a:avLst/>
          </a:prstGeom>
          <a:noFill/>
          <a:ln w="0">
            <a:noFill/>
          </a:ln>
        </p:spPr>
        <p:txBody>
          <a:bodyPr wrap="square" lIns="0" tIns="0" rIns="0" bIns="0" anchor="t">
            <a:normAutofit/>
          </a:bodyPr>
          <a:lstStyle/>
          <a:p>
            <a:pPr algn="ctr">
              <a:lnSpc>
                <a:spcPct val="108000"/>
              </a:lnSpc>
              <a:buNone/>
              <a:defRPr sz="1275" b="1">
                <a:solidFill>
                  <a:srgbClr val="6F8493"/>
                </a:solidFill>
                <a:latin typeface="BIZ UDPGothic"/>
                <a:ea typeface="BIZ UDPGothic"/>
                <a:cs typeface="BIZ UDPGothic"/>
              </a:defRPr>
            </a:pPr>
            <a:r>
              <a:rPr sz="1275" b="1">
                <a:solidFill>
                  <a:srgbClr val="6F8493"/>
                </a:solidFill>
                <a:latin typeface="BIZ UDPGothic"/>
                <a:ea typeface="BIZ UDPGothic"/>
                <a:cs typeface="BIZ UDPGothic"/>
              </a:rPr>
              <a:t>現在の既定ルート</a:t>
            </a:r>
          </a:p>
        </p:txBody>
      </p:sp>
      <p:sp>
        <p:nvSpPr>
          <p:cNvPr id="15" name="角丸四角形 14">
            <a:extLst>
              <a:ext uri="{FF2B5EF4-FFF2-40B4-BE49-F238E27FC236}">
                <a16:creationId xmlns:a16="http://schemas.microsoft.com/office/drawing/2014/main" id="{C6F078B8-9D0F-44A9-B010-3DA1EEB02424}"/>
              </a:ext>
            </a:extLst>
          </p:cNvPr>
          <p:cNvSpPr>
            <a:spLocks noGrp="1"/>
          </p:cNvSpPr>
          <p:nvPr/>
        </p:nvSpPr>
        <p:spPr>
          <a:xfrm>
            <a:off x="8067675" y="2438400"/>
            <a:ext cx="3105150" cy="857250"/>
          </a:xfrm>
          <a:prstGeom prst="roundRect">
            <a:avLst>
              <a:gd name="adj" fmla="val 15556"/>
            </a:avLst>
          </a:prstGeom>
          <a:solidFill>
            <a:srgbClr val="121F2D"/>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95E3D0AB-B357-4068-866A-5479015197E0}"/>
              </a:ext>
            </a:extLst>
          </p:cNvPr>
          <p:cNvSpPr>
            <a:spLocks noGrp="1"/>
          </p:cNvSpPr>
          <p:nvPr/>
        </p:nvSpPr>
        <p:spPr>
          <a:xfrm>
            <a:off x="8277225" y="2667000"/>
            <a:ext cx="2686050" cy="400050"/>
          </a:xfrm>
          <a:prstGeom prst="rect">
            <a:avLst/>
          </a:prstGeom>
          <a:noFill/>
          <a:ln w="0">
            <a:noFill/>
          </a:ln>
        </p:spPr>
        <p:txBody>
          <a:bodyPr wrap="square" lIns="0" tIns="0" rIns="0" bIns="0" anchor="t">
            <a:normAutofit/>
          </a:bodyPr>
          <a:lstStyle/>
          <a:p>
            <a:pPr algn="ctr">
              <a:lnSpc>
                <a:spcPct val="108000"/>
              </a:lnSpc>
              <a:buNone/>
              <a:defRPr sz="1950" b="1">
                <a:solidFill>
                  <a:srgbClr val="F4F5F1"/>
                </a:solidFill>
                <a:latin typeface="BIZ UDPGothic"/>
                <a:ea typeface="BIZ UDPGothic"/>
                <a:cs typeface="BIZ UDPGothic"/>
              </a:defRPr>
            </a:pPr>
            <a:r>
              <a:rPr sz="1950" b="1">
                <a:solidFill>
                  <a:srgbClr val="F4F5F1"/>
                </a:solidFill>
                <a:latin typeface="BIZ UDPGothic"/>
                <a:ea typeface="BIZ UDPGothic"/>
                <a:cs typeface="BIZ UDPGothic"/>
              </a:rPr>
              <a:t>orcarouter/free</a:t>
            </a:r>
          </a:p>
        </p:txBody>
      </p:sp>
      <p:sp>
        <p:nvSpPr>
          <p:cNvPr id="17" name="正方形/長方形 16">
            <a:extLst>
              <a:ext uri="{FF2B5EF4-FFF2-40B4-BE49-F238E27FC236}">
                <a16:creationId xmlns:a16="http://schemas.microsoft.com/office/drawing/2014/main" id="{8D5C9E3E-0EDA-44A7-B5F0-FBE26BE94B0E}"/>
              </a:ext>
            </a:extLst>
          </p:cNvPr>
          <p:cNvSpPr>
            <a:spLocks noGrp="1"/>
          </p:cNvSpPr>
          <p:nvPr/>
        </p:nvSpPr>
        <p:spPr>
          <a:xfrm>
            <a:off x="651238" y="3419475"/>
            <a:ext cx="10801350" cy="9525"/>
          </a:xfrm>
          <a:prstGeom prst="rect">
            <a:avLst/>
          </a:prstGeom>
          <a:solidFill>
            <a:srgbClr val="304454"/>
          </a:solidFill>
          <a:ln w="0">
            <a:noFill/>
          </a:ln>
        </p:spPr>
        <p:txBody>
          <a:bodyPr/>
          <a:lstStyle/>
          <a:p>
            <a:endParaRPr lang="ja-JP" altLang="en-US"/>
          </a:p>
        </p:txBody>
      </p:sp>
      <p:sp>
        <p:nvSpPr>
          <p:cNvPr id="18" name="正方形/長方形 17">
            <a:extLst>
              <a:ext uri="{FF2B5EF4-FFF2-40B4-BE49-F238E27FC236}">
                <a16:creationId xmlns:a16="http://schemas.microsoft.com/office/drawing/2014/main" id="{5FC1E802-79F5-4CFC-B1CC-C5D8BA2A6173}"/>
              </a:ext>
            </a:extLst>
          </p:cNvPr>
          <p:cNvSpPr>
            <a:spLocks noGrp="1"/>
          </p:cNvSpPr>
          <p:nvPr/>
        </p:nvSpPr>
        <p:spPr>
          <a:xfrm>
            <a:off x="689338" y="3743325"/>
            <a:ext cx="4857750" cy="352425"/>
          </a:xfrm>
          <a:prstGeom prst="rect">
            <a:avLst/>
          </a:prstGeom>
          <a:noFill/>
          <a:ln w="0">
            <a:noFill/>
          </a:ln>
        </p:spPr>
        <p:txBody>
          <a:bodyPr wrap="square" lIns="0" tIns="0" rIns="0" bIns="0" anchor="t">
            <a:normAutofit/>
          </a:bodyPr>
          <a:lstStyle/>
          <a:p>
            <a:pPr algn="l">
              <a:lnSpc>
                <a:spcPct val="108000"/>
              </a:lnSpc>
              <a:buNone/>
              <a:defRPr sz="1800" b="1">
                <a:solidFill>
                  <a:srgbClr val="7DE0CC"/>
                </a:solidFill>
                <a:latin typeface="BIZ UDPGothic"/>
                <a:ea typeface="BIZ UDPGothic"/>
                <a:cs typeface="BIZ UDPGothic"/>
              </a:defRPr>
            </a:pPr>
            <a:r>
              <a:rPr sz="1800" b="1">
                <a:solidFill>
                  <a:srgbClr val="7DE0CC"/>
                </a:solidFill>
                <a:latin typeface="BIZ UDPGothic"/>
                <a:ea typeface="BIZ UDPGothic"/>
                <a:cs typeface="BIZ UDPGothic"/>
              </a:rPr>
              <a:t>無料ルートを既定に設定</a:t>
            </a:r>
          </a:p>
        </p:txBody>
      </p:sp>
      <p:sp>
        <p:nvSpPr>
          <p:cNvPr id="19" name="正方形/長方形 18">
            <a:extLst>
              <a:ext uri="{FF2B5EF4-FFF2-40B4-BE49-F238E27FC236}">
                <a16:creationId xmlns:a16="http://schemas.microsoft.com/office/drawing/2014/main" id="{EE535FB4-F0F6-410A-B3F5-19CD21EC70DB}"/>
              </a:ext>
            </a:extLst>
          </p:cNvPr>
          <p:cNvSpPr>
            <a:spLocks noGrp="1"/>
          </p:cNvSpPr>
          <p:nvPr/>
        </p:nvSpPr>
        <p:spPr>
          <a:xfrm>
            <a:off x="689338" y="4219575"/>
            <a:ext cx="4857750" cy="581025"/>
          </a:xfrm>
          <a:prstGeom prst="rect">
            <a:avLst/>
          </a:prstGeom>
          <a:noFill/>
          <a:ln w="0">
            <a:noFill/>
          </a:ln>
        </p:spPr>
        <p:txBody>
          <a:bodyPr wrap="square" lIns="0" tIns="0" rIns="0" bIns="0" anchor="t">
            <a:normAutofit/>
          </a:bodyPr>
          <a:lstStyle/>
          <a:p>
            <a:pPr algn="l">
              <a:lnSpc>
                <a:spcPct val="125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OrcaRouter経由で接続し、</a:t>
            </a:r>
          </a:p>
          <a:p>
            <a:pPr algn="l">
              <a:lnSpc>
                <a:spcPct val="125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試作段階の推論費を抑える</a:t>
            </a:r>
          </a:p>
        </p:txBody>
      </p:sp>
      <p:sp>
        <p:nvSpPr>
          <p:cNvPr id="20" name="正方形/長方形 19">
            <a:extLst>
              <a:ext uri="{FF2B5EF4-FFF2-40B4-BE49-F238E27FC236}">
                <a16:creationId xmlns:a16="http://schemas.microsoft.com/office/drawing/2014/main" id="{7D18ECE5-A5C8-43CE-951C-C80F80B53B14}"/>
              </a:ext>
            </a:extLst>
          </p:cNvPr>
          <p:cNvSpPr>
            <a:spLocks noGrp="1"/>
          </p:cNvSpPr>
          <p:nvPr/>
        </p:nvSpPr>
        <p:spPr>
          <a:xfrm>
            <a:off x="6553200" y="1273085"/>
            <a:ext cx="4857750" cy="352425"/>
          </a:xfrm>
          <a:prstGeom prst="rect">
            <a:avLst/>
          </a:prstGeom>
          <a:noFill/>
          <a:ln w="0">
            <a:noFill/>
          </a:ln>
        </p:spPr>
        <p:txBody>
          <a:bodyPr wrap="square" lIns="0" tIns="0" rIns="0" bIns="0" anchor="t">
            <a:normAutofit/>
          </a:bodyPr>
          <a:lstStyle/>
          <a:p>
            <a:pPr algn="l">
              <a:lnSpc>
                <a:spcPct val="108000"/>
              </a:lnSpc>
              <a:buNone/>
              <a:defRPr sz="1800" b="1">
                <a:solidFill>
                  <a:srgbClr val="F1C27D"/>
                </a:solidFill>
                <a:latin typeface="BIZ UDPGothic"/>
                <a:ea typeface="BIZ UDPGothic"/>
                <a:cs typeface="BIZ UDPGothic"/>
              </a:defRPr>
            </a:pPr>
            <a:r>
              <a:rPr sz="1800" b="1" dirty="0" err="1">
                <a:solidFill>
                  <a:srgbClr val="F1C27D"/>
                </a:solidFill>
                <a:latin typeface="BIZ UDPGothic"/>
                <a:ea typeface="BIZ UDPGothic"/>
                <a:cs typeface="BIZ UDPGothic"/>
              </a:rPr>
              <a:t>モデル接続を一元化</a:t>
            </a:r>
            <a:endParaRPr sz="1800" b="1" dirty="0">
              <a:solidFill>
                <a:srgbClr val="F1C27D"/>
              </a:solidFill>
              <a:latin typeface="BIZ UDPGothic"/>
              <a:ea typeface="BIZ UDPGothic"/>
              <a:cs typeface="BIZ UDPGothic"/>
            </a:endParaRPr>
          </a:p>
        </p:txBody>
      </p:sp>
      <p:sp>
        <p:nvSpPr>
          <p:cNvPr id="21" name="正方形/長方形 20">
            <a:extLst>
              <a:ext uri="{FF2B5EF4-FFF2-40B4-BE49-F238E27FC236}">
                <a16:creationId xmlns:a16="http://schemas.microsoft.com/office/drawing/2014/main" id="{F879BCBB-6806-4E1A-9532-7A0A6E83E5BF}"/>
              </a:ext>
            </a:extLst>
          </p:cNvPr>
          <p:cNvSpPr>
            <a:spLocks noGrp="1"/>
          </p:cNvSpPr>
          <p:nvPr/>
        </p:nvSpPr>
        <p:spPr>
          <a:xfrm>
            <a:off x="6553200" y="1644831"/>
            <a:ext cx="4857750" cy="581025"/>
          </a:xfrm>
          <a:prstGeom prst="rect">
            <a:avLst/>
          </a:prstGeom>
          <a:noFill/>
          <a:ln w="0">
            <a:noFill/>
          </a:ln>
        </p:spPr>
        <p:txBody>
          <a:bodyPr wrap="square" lIns="0" tIns="0" rIns="0" bIns="0" anchor="t">
            <a:normAutofit/>
          </a:bodyPr>
          <a:lstStyle/>
          <a:p>
            <a:pPr algn="l">
              <a:lnSpc>
                <a:spcPct val="125000"/>
              </a:lnSpc>
              <a:buNone/>
              <a:defRPr sz="1500" b="0">
                <a:solidFill>
                  <a:srgbClr val="A9B8C3"/>
                </a:solidFill>
                <a:latin typeface="BIZ UDPGothic"/>
                <a:ea typeface="BIZ UDPGothic"/>
                <a:cs typeface="BIZ UDPGothic"/>
              </a:defRPr>
            </a:pPr>
            <a:r>
              <a:rPr sz="1500" b="0" dirty="0" err="1">
                <a:solidFill>
                  <a:srgbClr val="A9B8C3"/>
                </a:solidFill>
                <a:latin typeface="BIZ UDPGothic"/>
                <a:ea typeface="BIZ UDPGothic"/>
                <a:cs typeface="BIZ UDPGothic"/>
              </a:rPr>
              <a:t>アプリ側の処理とLLM接続を分け</a:t>
            </a:r>
            <a:r>
              <a:rPr sz="1500" b="0" dirty="0">
                <a:solidFill>
                  <a:srgbClr val="A9B8C3"/>
                </a:solidFill>
                <a:latin typeface="BIZ UDPGothic"/>
                <a:ea typeface="BIZ UDPGothic"/>
                <a:cs typeface="BIZ UDPGothic"/>
              </a:rPr>
              <a:t>、</a:t>
            </a:r>
          </a:p>
          <a:p>
            <a:pPr algn="l">
              <a:lnSpc>
                <a:spcPct val="125000"/>
              </a:lnSpc>
              <a:buNone/>
              <a:defRPr sz="1500" b="0">
                <a:solidFill>
                  <a:srgbClr val="A9B8C3"/>
                </a:solidFill>
                <a:latin typeface="BIZ UDPGothic"/>
                <a:ea typeface="BIZ UDPGothic"/>
                <a:cs typeface="BIZ UDPGothic"/>
              </a:defRPr>
            </a:pPr>
            <a:r>
              <a:rPr sz="1500" b="0" dirty="0" err="1">
                <a:solidFill>
                  <a:srgbClr val="A9B8C3"/>
                </a:solidFill>
                <a:latin typeface="BIZ UDPGothic"/>
                <a:ea typeface="BIZ UDPGothic"/>
                <a:cs typeface="BIZ UDPGothic"/>
              </a:rPr>
              <a:t>設定をまとめて管理</a:t>
            </a:r>
            <a:endParaRPr sz="1500" b="0" dirty="0">
              <a:solidFill>
                <a:srgbClr val="A9B8C3"/>
              </a:solidFill>
              <a:latin typeface="BIZ UDPGothic"/>
              <a:ea typeface="BIZ UDPGothic"/>
              <a:cs typeface="BIZ UDPGothic"/>
            </a:endParaRPr>
          </a:p>
        </p:txBody>
      </p:sp>
      <p:sp>
        <p:nvSpPr>
          <p:cNvPr id="22" name="正方形/長方形 21">
            <a:extLst>
              <a:ext uri="{FF2B5EF4-FFF2-40B4-BE49-F238E27FC236}">
                <a16:creationId xmlns:a16="http://schemas.microsoft.com/office/drawing/2014/main" id="{91FD0AC1-5960-40A7-A166-EFB4C0B5A801}"/>
              </a:ext>
            </a:extLst>
          </p:cNvPr>
          <p:cNvSpPr>
            <a:spLocks noGrp="1"/>
          </p:cNvSpPr>
          <p:nvPr/>
        </p:nvSpPr>
        <p:spPr>
          <a:xfrm>
            <a:off x="689338" y="5353050"/>
            <a:ext cx="10039350" cy="266700"/>
          </a:xfrm>
          <a:prstGeom prst="rect">
            <a:avLst/>
          </a:prstGeom>
          <a:noFill/>
          <a:ln w="0">
            <a:noFill/>
          </a:ln>
        </p:spPr>
        <p:txBody>
          <a:bodyPr wrap="square" lIns="0" tIns="0" rIns="0" bIns="0" anchor="t">
            <a:normAutofit/>
          </a:bodyPr>
          <a:lstStyle/>
          <a:p>
            <a:pPr algn="l">
              <a:lnSpc>
                <a:spcPct val="108000"/>
              </a:lnSpc>
              <a:buNone/>
              <a:defRPr sz="1425" b="0">
                <a:solidFill>
                  <a:srgbClr val="6F8493"/>
                </a:solidFill>
                <a:latin typeface="BIZ UDPGothic"/>
                <a:ea typeface="BIZ UDPGothic"/>
                <a:cs typeface="BIZ UDPGothic"/>
              </a:defRPr>
            </a:pPr>
            <a:r>
              <a:rPr sz="1425" b="0">
                <a:solidFill>
                  <a:srgbClr val="6F8493"/>
                </a:solidFill>
                <a:latin typeface="BIZ UDPGothic"/>
                <a:ea typeface="BIZ UDPGothic"/>
                <a:cs typeface="BIZ UDPGothic"/>
              </a:rPr>
              <a:t>計画・計算・メール草稿を支えるAI基盤として活用</a:t>
            </a:r>
          </a:p>
        </p:txBody>
      </p:sp>
      <p:pic>
        <p:nvPicPr>
          <p:cNvPr id="25" name="図 24">
            <a:extLst>
              <a:ext uri="{FF2B5EF4-FFF2-40B4-BE49-F238E27FC236}">
                <a16:creationId xmlns:a16="http://schemas.microsoft.com/office/drawing/2014/main" id="{E19733B3-285C-E694-54AA-DF88B1B03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9750" y="3505200"/>
            <a:ext cx="5791200" cy="3232297"/>
          </a:xfrm>
          <a:prstGeom prst="rect">
            <a:avLst/>
          </a:prstGeom>
        </p:spPr>
      </p:pic>
    </p:spTree>
    <p:extLst>
      <p:ext uri="{BB962C8B-B14F-4D97-AF65-F5344CB8AC3E}">
        <p14:creationId xmlns:p14="http://schemas.microsoft.com/office/powerpoint/2010/main" val="850008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420"/>
        </a:solidFill>
        <a:effectLst/>
      </p:bgPr>
    </p:bg>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216FEC43-C567-4E46-9C96-815461DF8D7C}"/>
              </a:ext>
            </a:extLst>
          </p:cNvPr>
          <p:cNvSpPr>
            <a:spLocks noGrp="1"/>
          </p:cNvSpPr>
          <p:nvPr/>
        </p:nvSpPr>
        <p:spPr>
          <a:xfrm>
            <a:off x="647700" y="428625"/>
            <a:ext cx="3619500" cy="238125"/>
          </a:xfrm>
          <a:prstGeom prst="rect">
            <a:avLst/>
          </a:prstGeom>
          <a:noFill/>
          <a:ln w="0">
            <a:noFill/>
          </a:ln>
        </p:spPr>
        <p:txBody>
          <a:bodyPr wrap="square" lIns="0" tIns="0" rIns="0" bIns="0" anchor="t">
            <a:normAutofit/>
          </a:bodyPr>
          <a:lstStyle/>
          <a:p>
            <a:pPr algn="l">
              <a:lnSpc>
                <a:spcPct val="108000"/>
              </a:lnSpc>
              <a:buNone/>
              <a:defRPr sz="1125" b="1">
                <a:solidFill>
                  <a:srgbClr val="7DE0CC"/>
                </a:solidFill>
                <a:latin typeface="BIZ UDPGothic"/>
                <a:ea typeface="BIZ UDPGothic"/>
                <a:cs typeface="BIZ UDPGothic"/>
              </a:defRPr>
            </a:pPr>
            <a:r>
              <a:rPr sz="1125" b="1">
                <a:solidFill>
                  <a:srgbClr val="7DE0CC"/>
                </a:solidFill>
                <a:latin typeface="BIZ UDPGothic"/>
                <a:ea typeface="BIZ UDPGothic"/>
                <a:cs typeface="BIZ UDPGothic"/>
              </a:rPr>
              <a:t>BIZTRIP-COPILOT</a:t>
            </a:r>
          </a:p>
        </p:txBody>
      </p:sp>
      <p:sp>
        <p:nvSpPr>
          <p:cNvPr id="2" name="正方形/長方形 1">
            <a:extLst>
              <a:ext uri="{FF2B5EF4-FFF2-40B4-BE49-F238E27FC236}">
                <a16:creationId xmlns:a16="http://schemas.microsoft.com/office/drawing/2014/main" id="{AA1D7E38-F4F4-41BD-B98F-A1B4023A33BF}"/>
              </a:ext>
            </a:extLst>
          </p:cNvPr>
          <p:cNvSpPr>
            <a:spLocks noGrp="1"/>
          </p:cNvSpPr>
          <p:nvPr/>
        </p:nvSpPr>
        <p:spPr>
          <a:xfrm>
            <a:off x="647700" y="790575"/>
            <a:ext cx="10896600" cy="552450"/>
          </a:xfrm>
          <a:prstGeom prst="rect">
            <a:avLst/>
          </a:prstGeom>
          <a:noFill/>
          <a:ln w="0">
            <a:noFill/>
          </a:ln>
        </p:spPr>
        <p:txBody>
          <a:bodyPr wrap="square" lIns="0" tIns="0" rIns="0" bIns="0" anchor="t">
            <a:normAutofit/>
          </a:bodyPr>
          <a:lstStyle/>
          <a:p>
            <a:pPr algn="l">
              <a:lnSpc>
                <a:spcPct val="108000"/>
              </a:lnSpc>
              <a:buNone/>
              <a:defRPr sz="2850" b="1">
                <a:solidFill>
                  <a:srgbClr val="F4F5F1"/>
                </a:solidFill>
                <a:latin typeface="BIZ UDPGothic"/>
                <a:ea typeface="BIZ UDPGothic"/>
                <a:cs typeface="BIZ UDPGothic"/>
              </a:defRPr>
            </a:pPr>
            <a:r>
              <a:rPr sz="2850" b="1">
                <a:solidFill>
                  <a:srgbClr val="F4F5F1"/>
                </a:solidFill>
                <a:latin typeface="BIZ UDPGothic"/>
                <a:ea typeface="BIZ UDPGothic"/>
                <a:cs typeface="BIZ UDPGothic"/>
              </a:rPr>
              <a:t>5つの評価軸に、設計の工夫で応える</a:t>
            </a:r>
          </a:p>
        </p:txBody>
      </p:sp>
      <p:sp>
        <p:nvSpPr>
          <p:cNvPr id="3" name="正方形/長方形 2">
            <a:extLst>
              <a:ext uri="{FF2B5EF4-FFF2-40B4-BE49-F238E27FC236}">
                <a16:creationId xmlns:a16="http://schemas.microsoft.com/office/drawing/2014/main" id="{877BC843-08E1-4563-AE46-DF7ADF328FC3}"/>
              </a:ext>
            </a:extLst>
          </p:cNvPr>
          <p:cNvSpPr>
            <a:spLocks noGrp="1"/>
          </p:cNvSpPr>
          <p:nvPr/>
        </p:nvSpPr>
        <p:spPr>
          <a:xfrm>
            <a:off x="647700" y="1495425"/>
            <a:ext cx="10896600" cy="9525"/>
          </a:xfrm>
          <a:prstGeom prst="rect">
            <a:avLst/>
          </a:prstGeom>
          <a:solidFill>
            <a:srgbClr val="304454"/>
          </a:solidFill>
          <a:ln w="0">
            <a:noFill/>
          </a:ln>
        </p:spPr>
        <p:txBody>
          <a:bodyPr/>
          <a:lstStyle/>
          <a:p>
            <a:endParaRPr lang="ja-JP" altLang="en-US"/>
          </a:p>
        </p:txBody>
      </p:sp>
      <p:sp>
        <p:nvSpPr>
          <p:cNvPr id="4" name="正方形/長方形 3">
            <a:extLst>
              <a:ext uri="{FF2B5EF4-FFF2-40B4-BE49-F238E27FC236}">
                <a16:creationId xmlns:a16="http://schemas.microsoft.com/office/drawing/2014/main" id="{831A3D36-465D-4730-AF60-AF40580ECDFB}"/>
              </a:ext>
            </a:extLst>
          </p:cNvPr>
          <p:cNvSpPr>
            <a:spLocks noGrp="1"/>
          </p:cNvSpPr>
          <p:nvPr/>
        </p:nvSpPr>
        <p:spPr>
          <a:xfrm>
            <a:off x="723900" y="1847850"/>
            <a:ext cx="552450" cy="257175"/>
          </a:xfrm>
          <a:prstGeom prst="rect">
            <a:avLst/>
          </a:prstGeom>
          <a:noFill/>
          <a:ln w="0">
            <a:noFill/>
          </a:ln>
        </p:spPr>
        <p:txBody>
          <a:bodyPr wrap="square" lIns="0" tIns="0" rIns="0" bIns="0" anchor="t">
            <a:normAutofit/>
          </a:bodyPr>
          <a:lstStyle/>
          <a:p>
            <a:pPr algn="l">
              <a:lnSpc>
                <a:spcPct val="108000"/>
              </a:lnSpc>
              <a:buNone/>
              <a:defRPr sz="1200" b="1">
                <a:solidFill>
                  <a:srgbClr val="7DE0CC"/>
                </a:solidFill>
                <a:latin typeface="BIZ UDPGothic"/>
                <a:ea typeface="BIZ UDPGothic"/>
                <a:cs typeface="BIZ UDPGothic"/>
              </a:defRPr>
            </a:pPr>
            <a:r>
              <a:rPr sz="1200" b="1">
                <a:solidFill>
                  <a:srgbClr val="7DE0CC"/>
                </a:solidFill>
                <a:latin typeface="BIZ UDPGothic"/>
                <a:ea typeface="BIZ UDPGothic"/>
                <a:cs typeface="BIZ UDPGothic"/>
              </a:rPr>
              <a:t>01</a:t>
            </a:r>
          </a:p>
        </p:txBody>
      </p:sp>
      <p:sp>
        <p:nvSpPr>
          <p:cNvPr id="5" name="正方形/長方形 4">
            <a:extLst>
              <a:ext uri="{FF2B5EF4-FFF2-40B4-BE49-F238E27FC236}">
                <a16:creationId xmlns:a16="http://schemas.microsoft.com/office/drawing/2014/main" id="{EE22F01B-91BC-4F96-95C3-3EFA2AC04F8F}"/>
              </a:ext>
            </a:extLst>
          </p:cNvPr>
          <p:cNvSpPr>
            <a:spLocks noGrp="1"/>
          </p:cNvSpPr>
          <p:nvPr/>
        </p:nvSpPr>
        <p:spPr>
          <a:xfrm>
            <a:off x="1362075" y="1828800"/>
            <a:ext cx="2076450" cy="323850"/>
          </a:xfrm>
          <a:prstGeom prst="rect">
            <a:avLst/>
          </a:prstGeom>
          <a:noFill/>
          <a:ln w="0">
            <a:noFill/>
          </a:ln>
        </p:spPr>
        <p:txBody>
          <a:bodyPr wrap="square" lIns="0" tIns="0" rIns="0" bIns="0" anchor="t">
            <a:normAutofit/>
          </a:bodyPr>
          <a:lstStyle/>
          <a:p>
            <a:pPr algn="l">
              <a:lnSpc>
                <a:spcPct val="108000"/>
              </a:lnSpc>
              <a:buNone/>
              <a:defRPr sz="1650" b="1">
                <a:solidFill>
                  <a:srgbClr val="F4F5F1"/>
                </a:solidFill>
                <a:latin typeface="BIZ UDPGothic"/>
                <a:ea typeface="BIZ UDPGothic"/>
                <a:cs typeface="BIZ UDPGothic"/>
              </a:defRPr>
            </a:pPr>
            <a:r>
              <a:rPr sz="1650" b="1">
                <a:solidFill>
                  <a:srgbClr val="F4F5F1"/>
                </a:solidFill>
                <a:latin typeface="BIZ UDPGothic"/>
                <a:ea typeface="BIZ UDPGothic"/>
                <a:cs typeface="BIZ UDPGothic"/>
              </a:rPr>
              <a:t>セキュリティ</a:t>
            </a:r>
          </a:p>
        </p:txBody>
      </p:sp>
      <p:sp>
        <p:nvSpPr>
          <p:cNvPr id="6" name="正方形/長方形 5">
            <a:extLst>
              <a:ext uri="{FF2B5EF4-FFF2-40B4-BE49-F238E27FC236}">
                <a16:creationId xmlns:a16="http://schemas.microsoft.com/office/drawing/2014/main" id="{E61603FB-36D3-4A3B-93D0-14F3F9372F4A}"/>
              </a:ext>
            </a:extLst>
          </p:cNvPr>
          <p:cNvSpPr>
            <a:spLocks noGrp="1"/>
          </p:cNvSpPr>
          <p:nvPr/>
        </p:nvSpPr>
        <p:spPr>
          <a:xfrm>
            <a:off x="3714750" y="1847850"/>
            <a:ext cx="73152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アクセス制御と、人が確認できる設計</a:t>
            </a:r>
          </a:p>
        </p:txBody>
      </p:sp>
      <p:sp>
        <p:nvSpPr>
          <p:cNvPr id="7" name="正方形/長方形 6">
            <a:extLst>
              <a:ext uri="{FF2B5EF4-FFF2-40B4-BE49-F238E27FC236}">
                <a16:creationId xmlns:a16="http://schemas.microsoft.com/office/drawing/2014/main" id="{EEAF314B-67C9-44CA-A2F1-4584370B535D}"/>
              </a:ext>
            </a:extLst>
          </p:cNvPr>
          <p:cNvSpPr>
            <a:spLocks noGrp="1"/>
          </p:cNvSpPr>
          <p:nvPr/>
        </p:nvSpPr>
        <p:spPr>
          <a:xfrm>
            <a:off x="1352550" y="2276475"/>
            <a:ext cx="9667875" cy="9525"/>
          </a:xfrm>
          <a:prstGeom prst="rect">
            <a:avLst/>
          </a:prstGeom>
          <a:solidFill>
            <a:srgbClr val="304454"/>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867BFEE0-4ACF-42BA-848A-D8AEF518A671}"/>
              </a:ext>
            </a:extLst>
          </p:cNvPr>
          <p:cNvSpPr>
            <a:spLocks noGrp="1"/>
          </p:cNvSpPr>
          <p:nvPr/>
        </p:nvSpPr>
        <p:spPr>
          <a:xfrm>
            <a:off x="723900" y="2457450"/>
            <a:ext cx="552450" cy="257175"/>
          </a:xfrm>
          <a:prstGeom prst="rect">
            <a:avLst/>
          </a:prstGeom>
          <a:noFill/>
          <a:ln w="0">
            <a:noFill/>
          </a:ln>
        </p:spPr>
        <p:txBody>
          <a:bodyPr wrap="square" lIns="0" tIns="0" rIns="0" bIns="0" anchor="t">
            <a:normAutofit/>
          </a:bodyPr>
          <a:lstStyle/>
          <a:p>
            <a:pPr algn="l">
              <a:lnSpc>
                <a:spcPct val="108000"/>
              </a:lnSpc>
              <a:buNone/>
              <a:defRPr sz="1200" b="1">
                <a:solidFill>
                  <a:srgbClr val="83B8F4"/>
                </a:solidFill>
                <a:latin typeface="BIZ UDPGothic"/>
                <a:ea typeface="BIZ UDPGothic"/>
                <a:cs typeface="BIZ UDPGothic"/>
              </a:defRPr>
            </a:pPr>
            <a:r>
              <a:rPr sz="1200" b="1">
                <a:solidFill>
                  <a:srgbClr val="83B8F4"/>
                </a:solidFill>
                <a:latin typeface="BIZ UDPGothic"/>
                <a:ea typeface="BIZ UDPGothic"/>
                <a:cs typeface="BIZ UDPGothic"/>
              </a:rPr>
              <a:t>02</a:t>
            </a:r>
          </a:p>
        </p:txBody>
      </p:sp>
      <p:sp>
        <p:nvSpPr>
          <p:cNvPr id="9" name="正方形/長方形 8">
            <a:extLst>
              <a:ext uri="{FF2B5EF4-FFF2-40B4-BE49-F238E27FC236}">
                <a16:creationId xmlns:a16="http://schemas.microsoft.com/office/drawing/2014/main" id="{05406BC8-2BA7-43C4-9699-3E7154EB0BFB}"/>
              </a:ext>
            </a:extLst>
          </p:cNvPr>
          <p:cNvSpPr>
            <a:spLocks noGrp="1"/>
          </p:cNvSpPr>
          <p:nvPr/>
        </p:nvSpPr>
        <p:spPr>
          <a:xfrm>
            <a:off x="1362075" y="2438400"/>
            <a:ext cx="2076450" cy="323850"/>
          </a:xfrm>
          <a:prstGeom prst="rect">
            <a:avLst/>
          </a:prstGeom>
          <a:noFill/>
          <a:ln w="0">
            <a:noFill/>
          </a:ln>
        </p:spPr>
        <p:txBody>
          <a:bodyPr wrap="square" lIns="0" tIns="0" rIns="0" bIns="0" anchor="t">
            <a:normAutofit/>
          </a:bodyPr>
          <a:lstStyle/>
          <a:p>
            <a:pPr algn="l">
              <a:lnSpc>
                <a:spcPct val="108000"/>
              </a:lnSpc>
              <a:buNone/>
              <a:defRPr sz="1650" b="1">
                <a:solidFill>
                  <a:srgbClr val="F4F5F1"/>
                </a:solidFill>
                <a:latin typeface="BIZ UDPGothic"/>
                <a:ea typeface="BIZ UDPGothic"/>
                <a:cs typeface="BIZ UDPGothic"/>
              </a:defRPr>
            </a:pPr>
            <a:r>
              <a:rPr sz="1650" b="1">
                <a:solidFill>
                  <a:srgbClr val="F4F5F1"/>
                </a:solidFill>
                <a:latin typeface="BIZ UDPGothic"/>
                <a:ea typeface="BIZ UDPGothic"/>
                <a:cs typeface="BIZ UDPGothic"/>
              </a:rPr>
              <a:t>コスト</a:t>
            </a:r>
          </a:p>
        </p:txBody>
      </p:sp>
      <p:sp>
        <p:nvSpPr>
          <p:cNvPr id="10" name="正方形/長方形 9">
            <a:extLst>
              <a:ext uri="{FF2B5EF4-FFF2-40B4-BE49-F238E27FC236}">
                <a16:creationId xmlns:a16="http://schemas.microsoft.com/office/drawing/2014/main" id="{86723A22-135F-4BB7-8D31-ABE4C74F11CC}"/>
              </a:ext>
            </a:extLst>
          </p:cNvPr>
          <p:cNvSpPr>
            <a:spLocks noGrp="1"/>
          </p:cNvSpPr>
          <p:nvPr/>
        </p:nvSpPr>
        <p:spPr>
          <a:xfrm>
            <a:off x="3714750" y="2457450"/>
            <a:ext cx="73152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orcarouter/freeを既定に、推論費に配慮</a:t>
            </a:r>
          </a:p>
        </p:txBody>
      </p:sp>
      <p:sp>
        <p:nvSpPr>
          <p:cNvPr id="11" name="正方形/長方形 10">
            <a:extLst>
              <a:ext uri="{FF2B5EF4-FFF2-40B4-BE49-F238E27FC236}">
                <a16:creationId xmlns:a16="http://schemas.microsoft.com/office/drawing/2014/main" id="{B68CA56B-64C2-4A64-AE3F-C5D1D1817DFC}"/>
              </a:ext>
            </a:extLst>
          </p:cNvPr>
          <p:cNvSpPr>
            <a:spLocks noGrp="1"/>
          </p:cNvSpPr>
          <p:nvPr/>
        </p:nvSpPr>
        <p:spPr>
          <a:xfrm>
            <a:off x="1352550" y="2886075"/>
            <a:ext cx="9667875" cy="9525"/>
          </a:xfrm>
          <a:prstGeom prst="rect">
            <a:avLst/>
          </a:prstGeom>
          <a:solidFill>
            <a:srgbClr val="304454"/>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9A79C88-C206-4E8C-A68E-AE77658EC351}"/>
              </a:ext>
            </a:extLst>
          </p:cNvPr>
          <p:cNvSpPr>
            <a:spLocks noGrp="1"/>
          </p:cNvSpPr>
          <p:nvPr/>
        </p:nvSpPr>
        <p:spPr>
          <a:xfrm>
            <a:off x="723900" y="3067050"/>
            <a:ext cx="552450" cy="257175"/>
          </a:xfrm>
          <a:prstGeom prst="rect">
            <a:avLst/>
          </a:prstGeom>
          <a:noFill/>
          <a:ln w="0">
            <a:noFill/>
          </a:ln>
        </p:spPr>
        <p:txBody>
          <a:bodyPr wrap="square" lIns="0" tIns="0" rIns="0" bIns="0" anchor="t">
            <a:normAutofit/>
          </a:bodyPr>
          <a:lstStyle/>
          <a:p>
            <a:pPr algn="l">
              <a:lnSpc>
                <a:spcPct val="108000"/>
              </a:lnSpc>
              <a:buNone/>
              <a:defRPr sz="1200" b="1">
                <a:solidFill>
                  <a:srgbClr val="F1C27D"/>
                </a:solidFill>
                <a:latin typeface="BIZ UDPGothic"/>
                <a:ea typeface="BIZ UDPGothic"/>
                <a:cs typeface="BIZ UDPGothic"/>
              </a:defRPr>
            </a:pPr>
            <a:r>
              <a:rPr sz="1200" b="1">
                <a:solidFill>
                  <a:srgbClr val="F1C27D"/>
                </a:solidFill>
                <a:latin typeface="BIZ UDPGothic"/>
                <a:ea typeface="BIZ UDPGothic"/>
                <a:cs typeface="BIZ UDPGothic"/>
              </a:rPr>
              <a:t>03</a:t>
            </a:r>
          </a:p>
        </p:txBody>
      </p:sp>
      <p:sp>
        <p:nvSpPr>
          <p:cNvPr id="13" name="正方形/長方形 12">
            <a:extLst>
              <a:ext uri="{FF2B5EF4-FFF2-40B4-BE49-F238E27FC236}">
                <a16:creationId xmlns:a16="http://schemas.microsoft.com/office/drawing/2014/main" id="{D9E1B965-B791-48D7-9491-4345C4F89D3D}"/>
              </a:ext>
            </a:extLst>
          </p:cNvPr>
          <p:cNvSpPr>
            <a:spLocks noGrp="1"/>
          </p:cNvSpPr>
          <p:nvPr/>
        </p:nvSpPr>
        <p:spPr>
          <a:xfrm>
            <a:off x="1362075" y="3048000"/>
            <a:ext cx="2076450" cy="323850"/>
          </a:xfrm>
          <a:prstGeom prst="rect">
            <a:avLst/>
          </a:prstGeom>
          <a:noFill/>
          <a:ln w="0">
            <a:noFill/>
          </a:ln>
        </p:spPr>
        <p:txBody>
          <a:bodyPr wrap="square" lIns="0" tIns="0" rIns="0" bIns="0" anchor="t">
            <a:normAutofit/>
          </a:bodyPr>
          <a:lstStyle/>
          <a:p>
            <a:pPr algn="l">
              <a:lnSpc>
                <a:spcPct val="108000"/>
              </a:lnSpc>
              <a:buNone/>
              <a:defRPr sz="1650" b="1">
                <a:solidFill>
                  <a:srgbClr val="F4F5F1"/>
                </a:solidFill>
                <a:latin typeface="BIZ UDPGothic"/>
                <a:ea typeface="BIZ UDPGothic"/>
                <a:cs typeface="BIZ UDPGothic"/>
              </a:defRPr>
            </a:pPr>
            <a:r>
              <a:rPr sz="1650" b="1">
                <a:solidFill>
                  <a:srgbClr val="F4F5F1"/>
                </a:solidFill>
                <a:latin typeface="BIZ UDPGothic"/>
                <a:ea typeface="BIZ UDPGothic"/>
                <a:cs typeface="BIZ UDPGothic"/>
              </a:rPr>
              <a:t>信頼性</a:t>
            </a:r>
          </a:p>
        </p:txBody>
      </p:sp>
      <p:sp>
        <p:nvSpPr>
          <p:cNvPr id="14" name="正方形/長方形 13">
            <a:extLst>
              <a:ext uri="{FF2B5EF4-FFF2-40B4-BE49-F238E27FC236}">
                <a16:creationId xmlns:a16="http://schemas.microsoft.com/office/drawing/2014/main" id="{3B97749B-869C-45AC-AB61-01CA9C3831A0}"/>
              </a:ext>
            </a:extLst>
          </p:cNvPr>
          <p:cNvSpPr>
            <a:spLocks noGrp="1"/>
          </p:cNvSpPr>
          <p:nvPr/>
        </p:nvSpPr>
        <p:spPr>
          <a:xfrm>
            <a:off x="3714750" y="3067050"/>
            <a:ext cx="73152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計算はプログラムで行い、同条件で再計算</a:t>
            </a:r>
          </a:p>
        </p:txBody>
      </p:sp>
      <p:sp>
        <p:nvSpPr>
          <p:cNvPr id="15" name="正方形/長方形 14">
            <a:extLst>
              <a:ext uri="{FF2B5EF4-FFF2-40B4-BE49-F238E27FC236}">
                <a16:creationId xmlns:a16="http://schemas.microsoft.com/office/drawing/2014/main" id="{A3D54FA1-64E1-4908-B821-49F232EEE372}"/>
              </a:ext>
            </a:extLst>
          </p:cNvPr>
          <p:cNvSpPr>
            <a:spLocks noGrp="1"/>
          </p:cNvSpPr>
          <p:nvPr/>
        </p:nvSpPr>
        <p:spPr>
          <a:xfrm>
            <a:off x="1352550" y="3495675"/>
            <a:ext cx="9667875" cy="9525"/>
          </a:xfrm>
          <a:prstGeom prst="rect">
            <a:avLst/>
          </a:prstGeom>
          <a:solidFill>
            <a:srgbClr val="304454"/>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8ED11D9E-601C-4056-8178-0127EE25F45E}"/>
              </a:ext>
            </a:extLst>
          </p:cNvPr>
          <p:cNvSpPr>
            <a:spLocks noGrp="1"/>
          </p:cNvSpPr>
          <p:nvPr/>
        </p:nvSpPr>
        <p:spPr>
          <a:xfrm>
            <a:off x="723900" y="3676650"/>
            <a:ext cx="552450" cy="257175"/>
          </a:xfrm>
          <a:prstGeom prst="rect">
            <a:avLst/>
          </a:prstGeom>
          <a:noFill/>
          <a:ln w="0">
            <a:noFill/>
          </a:ln>
        </p:spPr>
        <p:txBody>
          <a:bodyPr wrap="square" lIns="0" tIns="0" rIns="0" bIns="0" anchor="t">
            <a:normAutofit/>
          </a:bodyPr>
          <a:lstStyle/>
          <a:p>
            <a:pPr algn="l">
              <a:lnSpc>
                <a:spcPct val="108000"/>
              </a:lnSpc>
              <a:buNone/>
              <a:defRPr sz="1200" b="1">
                <a:solidFill>
                  <a:srgbClr val="F28E79"/>
                </a:solidFill>
                <a:latin typeface="BIZ UDPGothic"/>
                <a:ea typeface="BIZ UDPGothic"/>
                <a:cs typeface="BIZ UDPGothic"/>
              </a:defRPr>
            </a:pPr>
            <a:r>
              <a:rPr sz="1200" b="1">
                <a:solidFill>
                  <a:srgbClr val="F28E79"/>
                </a:solidFill>
                <a:latin typeface="BIZ UDPGothic"/>
                <a:ea typeface="BIZ UDPGothic"/>
                <a:cs typeface="BIZ UDPGothic"/>
              </a:rPr>
              <a:t>04</a:t>
            </a:r>
          </a:p>
        </p:txBody>
      </p:sp>
      <p:sp>
        <p:nvSpPr>
          <p:cNvPr id="17" name="正方形/長方形 16">
            <a:extLst>
              <a:ext uri="{FF2B5EF4-FFF2-40B4-BE49-F238E27FC236}">
                <a16:creationId xmlns:a16="http://schemas.microsoft.com/office/drawing/2014/main" id="{96D362C9-608B-4466-BE25-B75DC048D628}"/>
              </a:ext>
            </a:extLst>
          </p:cNvPr>
          <p:cNvSpPr>
            <a:spLocks noGrp="1"/>
          </p:cNvSpPr>
          <p:nvPr/>
        </p:nvSpPr>
        <p:spPr>
          <a:xfrm>
            <a:off x="1362075" y="3657600"/>
            <a:ext cx="2076450" cy="323850"/>
          </a:xfrm>
          <a:prstGeom prst="rect">
            <a:avLst/>
          </a:prstGeom>
          <a:noFill/>
          <a:ln w="0">
            <a:noFill/>
          </a:ln>
        </p:spPr>
        <p:txBody>
          <a:bodyPr wrap="square" lIns="0" tIns="0" rIns="0" bIns="0" anchor="t">
            <a:normAutofit/>
          </a:bodyPr>
          <a:lstStyle/>
          <a:p>
            <a:pPr algn="l">
              <a:lnSpc>
                <a:spcPct val="108000"/>
              </a:lnSpc>
              <a:buNone/>
              <a:defRPr sz="1650" b="1">
                <a:solidFill>
                  <a:srgbClr val="F4F5F1"/>
                </a:solidFill>
                <a:latin typeface="BIZ UDPGothic"/>
                <a:ea typeface="BIZ UDPGothic"/>
                <a:cs typeface="BIZ UDPGothic"/>
              </a:defRPr>
            </a:pPr>
            <a:r>
              <a:rPr sz="1650" b="1">
                <a:solidFill>
                  <a:srgbClr val="F4F5F1"/>
                </a:solidFill>
                <a:latin typeface="BIZ UDPGothic"/>
                <a:ea typeface="BIZ UDPGothic"/>
                <a:cs typeface="BIZ UDPGothic"/>
              </a:rPr>
              <a:t>自律性</a:t>
            </a:r>
          </a:p>
        </p:txBody>
      </p:sp>
      <p:sp>
        <p:nvSpPr>
          <p:cNvPr id="18" name="正方形/長方形 17">
            <a:extLst>
              <a:ext uri="{FF2B5EF4-FFF2-40B4-BE49-F238E27FC236}">
                <a16:creationId xmlns:a16="http://schemas.microsoft.com/office/drawing/2014/main" id="{CA71FC25-B003-44EF-BBDC-1FC0F275225C}"/>
              </a:ext>
            </a:extLst>
          </p:cNvPr>
          <p:cNvSpPr>
            <a:spLocks noGrp="1"/>
          </p:cNvSpPr>
          <p:nvPr/>
        </p:nvSpPr>
        <p:spPr>
          <a:xfrm>
            <a:off x="3714750" y="3676650"/>
            <a:ext cx="73152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条件確認・資料検索・比較を一つの流れに</a:t>
            </a:r>
          </a:p>
        </p:txBody>
      </p:sp>
      <p:sp>
        <p:nvSpPr>
          <p:cNvPr id="19" name="正方形/長方形 18">
            <a:extLst>
              <a:ext uri="{FF2B5EF4-FFF2-40B4-BE49-F238E27FC236}">
                <a16:creationId xmlns:a16="http://schemas.microsoft.com/office/drawing/2014/main" id="{24A7F50E-B99C-49F5-ABFA-BA17065868AC}"/>
              </a:ext>
            </a:extLst>
          </p:cNvPr>
          <p:cNvSpPr>
            <a:spLocks noGrp="1"/>
          </p:cNvSpPr>
          <p:nvPr/>
        </p:nvSpPr>
        <p:spPr>
          <a:xfrm>
            <a:off x="1352550" y="4105275"/>
            <a:ext cx="9667875" cy="9525"/>
          </a:xfrm>
          <a:prstGeom prst="rect">
            <a:avLst/>
          </a:prstGeom>
          <a:solidFill>
            <a:srgbClr val="304454"/>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5C8D816C-C36D-482C-A2F2-734B4FED5FC0}"/>
              </a:ext>
            </a:extLst>
          </p:cNvPr>
          <p:cNvSpPr>
            <a:spLocks noGrp="1"/>
          </p:cNvSpPr>
          <p:nvPr/>
        </p:nvSpPr>
        <p:spPr>
          <a:xfrm>
            <a:off x="723900" y="4286250"/>
            <a:ext cx="552450" cy="257175"/>
          </a:xfrm>
          <a:prstGeom prst="rect">
            <a:avLst/>
          </a:prstGeom>
          <a:noFill/>
          <a:ln w="0">
            <a:noFill/>
          </a:ln>
        </p:spPr>
        <p:txBody>
          <a:bodyPr wrap="square" lIns="0" tIns="0" rIns="0" bIns="0" anchor="t">
            <a:normAutofit/>
          </a:bodyPr>
          <a:lstStyle/>
          <a:p>
            <a:pPr algn="l">
              <a:lnSpc>
                <a:spcPct val="108000"/>
              </a:lnSpc>
              <a:buNone/>
              <a:defRPr sz="1200" b="1">
                <a:solidFill>
                  <a:srgbClr val="7DE0CC"/>
                </a:solidFill>
                <a:latin typeface="BIZ UDPGothic"/>
                <a:ea typeface="BIZ UDPGothic"/>
                <a:cs typeface="BIZ UDPGothic"/>
              </a:defRPr>
            </a:pPr>
            <a:r>
              <a:rPr sz="1200" b="1">
                <a:solidFill>
                  <a:srgbClr val="7DE0CC"/>
                </a:solidFill>
                <a:latin typeface="BIZ UDPGothic"/>
                <a:ea typeface="BIZ UDPGothic"/>
                <a:cs typeface="BIZ UDPGothic"/>
              </a:rPr>
              <a:t>05</a:t>
            </a:r>
          </a:p>
        </p:txBody>
      </p:sp>
      <p:sp>
        <p:nvSpPr>
          <p:cNvPr id="21" name="正方形/長方形 20">
            <a:extLst>
              <a:ext uri="{FF2B5EF4-FFF2-40B4-BE49-F238E27FC236}">
                <a16:creationId xmlns:a16="http://schemas.microsoft.com/office/drawing/2014/main" id="{F2BCB9A0-4F64-4012-A1CF-7167AB6BC6CB}"/>
              </a:ext>
            </a:extLst>
          </p:cNvPr>
          <p:cNvSpPr>
            <a:spLocks noGrp="1"/>
          </p:cNvSpPr>
          <p:nvPr/>
        </p:nvSpPr>
        <p:spPr>
          <a:xfrm>
            <a:off x="1362075" y="4267200"/>
            <a:ext cx="2076450" cy="323850"/>
          </a:xfrm>
          <a:prstGeom prst="rect">
            <a:avLst/>
          </a:prstGeom>
          <a:noFill/>
          <a:ln w="0">
            <a:noFill/>
          </a:ln>
        </p:spPr>
        <p:txBody>
          <a:bodyPr wrap="square" lIns="0" tIns="0" rIns="0" bIns="0" anchor="t">
            <a:normAutofit/>
          </a:bodyPr>
          <a:lstStyle/>
          <a:p>
            <a:pPr algn="l">
              <a:lnSpc>
                <a:spcPct val="108000"/>
              </a:lnSpc>
              <a:buNone/>
              <a:defRPr sz="1650" b="1">
                <a:solidFill>
                  <a:srgbClr val="F4F5F1"/>
                </a:solidFill>
                <a:latin typeface="BIZ UDPGothic"/>
                <a:ea typeface="BIZ UDPGothic"/>
                <a:cs typeface="BIZ UDPGothic"/>
              </a:defRPr>
            </a:pPr>
            <a:r>
              <a:rPr sz="1650" b="1">
                <a:solidFill>
                  <a:srgbClr val="F4F5F1"/>
                </a:solidFill>
                <a:latin typeface="BIZ UDPGothic"/>
                <a:ea typeface="BIZ UDPGothic"/>
                <a:cs typeface="BIZ UDPGothic"/>
              </a:rPr>
              <a:t>独創性</a:t>
            </a:r>
          </a:p>
        </p:txBody>
      </p:sp>
      <p:sp>
        <p:nvSpPr>
          <p:cNvPr id="22" name="正方形/長方形 21">
            <a:extLst>
              <a:ext uri="{FF2B5EF4-FFF2-40B4-BE49-F238E27FC236}">
                <a16:creationId xmlns:a16="http://schemas.microsoft.com/office/drawing/2014/main" id="{24117B04-A6C8-49AE-BE92-BAEB3FC94419}"/>
              </a:ext>
            </a:extLst>
          </p:cNvPr>
          <p:cNvSpPr>
            <a:spLocks noGrp="1"/>
          </p:cNvSpPr>
          <p:nvPr/>
        </p:nvSpPr>
        <p:spPr>
          <a:xfrm>
            <a:off x="3714750" y="4286250"/>
            <a:ext cx="7315200" cy="295275"/>
          </a:xfrm>
          <a:prstGeom prst="rect">
            <a:avLst/>
          </a:prstGeom>
          <a:noFill/>
          <a:ln w="0">
            <a:noFill/>
          </a:ln>
        </p:spPr>
        <p:txBody>
          <a:bodyPr wrap="square" lIns="0" tIns="0" rIns="0" bIns="0" anchor="t">
            <a:normAutofit/>
          </a:bodyPr>
          <a:lstStyle/>
          <a:p>
            <a:pPr algn="l">
              <a:lnSpc>
                <a:spcPct val="108000"/>
              </a:lnSpc>
              <a:buNone/>
              <a:defRPr sz="1500" b="0">
                <a:solidFill>
                  <a:srgbClr val="A9B8C3"/>
                </a:solidFill>
                <a:latin typeface="BIZ UDPGothic"/>
                <a:ea typeface="BIZ UDPGothic"/>
                <a:cs typeface="BIZ UDPGothic"/>
              </a:defRPr>
            </a:pPr>
            <a:r>
              <a:rPr sz="1500" b="0">
                <a:solidFill>
                  <a:srgbClr val="A9B8C3"/>
                </a:solidFill>
                <a:latin typeface="BIZ UDPGothic"/>
                <a:ea typeface="BIZ UDPGothic"/>
                <a:cs typeface="BIZ UDPGothic"/>
              </a:rPr>
              <a:t>規程の根拠と承認準備を出張計画に結ぶ</a:t>
            </a:r>
          </a:p>
        </p:txBody>
      </p:sp>
      <p:sp>
        <p:nvSpPr>
          <p:cNvPr id="23" name="正方形/長方形 22">
            <a:extLst>
              <a:ext uri="{FF2B5EF4-FFF2-40B4-BE49-F238E27FC236}">
                <a16:creationId xmlns:a16="http://schemas.microsoft.com/office/drawing/2014/main" id="{BAEE8EA3-BE74-45A8-996F-564F010020FB}"/>
              </a:ext>
            </a:extLst>
          </p:cNvPr>
          <p:cNvSpPr>
            <a:spLocks noGrp="1"/>
          </p:cNvSpPr>
          <p:nvPr/>
        </p:nvSpPr>
        <p:spPr>
          <a:xfrm>
            <a:off x="723900" y="5057775"/>
            <a:ext cx="10420350" cy="9525"/>
          </a:xfrm>
          <a:prstGeom prst="rect">
            <a:avLst/>
          </a:prstGeom>
          <a:solidFill>
            <a:srgbClr val="304454"/>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260D8942-1E44-47F2-B816-73A8F29A9890}"/>
              </a:ext>
            </a:extLst>
          </p:cNvPr>
          <p:cNvSpPr>
            <a:spLocks noGrp="1"/>
          </p:cNvSpPr>
          <p:nvPr/>
        </p:nvSpPr>
        <p:spPr>
          <a:xfrm>
            <a:off x="723900" y="5343525"/>
            <a:ext cx="10477500" cy="447675"/>
          </a:xfrm>
          <a:prstGeom prst="rect">
            <a:avLst/>
          </a:prstGeom>
          <a:noFill/>
          <a:ln w="0">
            <a:noFill/>
          </a:ln>
        </p:spPr>
        <p:txBody>
          <a:bodyPr wrap="square" lIns="0" tIns="0" rIns="0" bIns="0" anchor="t">
            <a:normAutofit/>
          </a:bodyPr>
          <a:lstStyle/>
          <a:p>
            <a:pPr algn="l">
              <a:lnSpc>
                <a:spcPct val="108000"/>
              </a:lnSpc>
              <a:buNone/>
              <a:defRPr sz="2175" b="1">
                <a:solidFill>
                  <a:srgbClr val="7DE0CC"/>
                </a:solidFill>
                <a:latin typeface="BIZ UDPGothic"/>
                <a:ea typeface="BIZ UDPGothic"/>
                <a:cs typeface="BIZ UDPGothic"/>
              </a:defRPr>
            </a:pPr>
            <a:r>
              <a:rPr sz="2175" b="1">
                <a:solidFill>
                  <a:srgbClr val="7DE0CC"/>
                </a:solidFill>
                <a:latin typeface="BIZ UDPGothic"/>
                <a:ea typeface="BIZ UDPGothic"/>
                <a:cs typeface="BIZ UDPGothic"/>
              </a:rPr>
              <a:t>準備はAIで速く、判断は根拠とともに。</a:t>
            </a:r>
          </a:p>
        </p:txBody>
      </p:sp>
      <p:sp>
        <p:nvSpPr>
          <p:cNvPr id="25" name="正方形/長方形 24">
            <a:extLst>
              <a:ext uri="{FF2B5EF4-FFF2-40B4-BE49-F238E27FC236}">
                <a16:creationId xmlns:a16="http://schemas.microsoft.com/office/drawing/2014/main" id="{CCD48DAC-DD9C-47BE-9C18-66892872311C}"/>
              </a:ext>
            </a:extLst>
          </p:cNvPr>
          <p:cNvSpPr>
            <a:spLocks noGrp="1"/>
          </p:cNvSpPr>
          <p:nvPr/>
        </p:nvSpPr>
        <p:spPr>
          <a:xfrm>
            <a:off x="723900" y="5915025"/>
            <a:ext cx="4762500" cy="247650"/>
          </a:xfrm>
          <a:prstGeom prst="rect">
            <a:avLst/>
          </a:prstGeom>
          <a:noFill/>
          <a:ln w="0">
            <a:noFill/>
          </a:ln>
        </p:spPr>
        <p:txBody>
          <a:bodyPr wrap="square" lIns="0" tIns="0" rIns="0" bIns="0" anchor="t">
            <a:normAutofit/>
          </a:bodyPr>
          <a:lstStyle/>
          <a:p>
            <a:pPr algn="l">
              <a:lnSpc>
                <a:spcPct val="108000"/>
              </a:lnSpc>
              <a:buNone/>
              <a:defRPr sz="1275" b="0">
                <a:solidFill>
                  <a:srgbClr val="6F8493"/>
                </a:solidFill>
                <a:latin typeface="BIZ UDPGothic"/>
                <a:ea typeface="BIZ UDPGothic"/>
                <a:cs typeface="BIZ UDPGothic"/>
              </a:defRPr>
            </a:pPr>
            <a:r>
              <a:rPr sz="1275" b="0">
                <a:solidFill>
                  <a:srgbClr val="6F8493"/>
                </a:solidFill>
                <a:latin typeface="BIZ UDPGothic"/>
                <a:ea typeface="BIZ UDPGothic"/>
                <a:cs typeface="BIZ UDPGothic"/>
              </a:rPr>
              <a:t>ご清聴ありがとうございました</a:t>
            </a:r>
          </a:p>
        </p:txBody>
      </p:sp>
    </p:spTree>
    <p:extLst>
      <p:ext uri="{BB962C8B-B14F-4D97-AF65-F5344CB8AC3E}">
        <p14:creationId xmlns:p14="http://schemas.microsoft.com/office/powerpoint/2010/main" val="4408746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679</Words>
  <Application>Microsoft Macintosh PowerPoint</Application>
  <DocSecurity>0</DocSecurity>
  <PresentationFormat>ワイド画面</PresentationFormat>
  <Paragraphs>145</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BIZ UDPGothic</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李展毅</cp:lastModifiedBy>
  <cp:revision>3</cp:revision>
  <dcterms:created xsi:type="dcterms:W3CDTF">2026-09-22T19:22:58Z</dcterms:created>
  <dcterms:modified xsi:type="dcterms:W3CDTF">2026-09-23T05:42:29Z</dcterms:modified>
</cp:coreProperties>
</file>